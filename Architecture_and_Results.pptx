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ec2c6f9e24269" /><Relationship Type="http://schemas.openxmlformats.org/officeDocument/2006/relationships/extended-properties" Target="/docProps/app.xml" Id="Rb7a4615c1e6c44e1" /><Relationship Type="http://schemas.openxmlformats.org/officeDocument/2006/relationships/officeDocument" Target="/ppt/presentation.xml" Id="Rb969cc992cab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478a927d6e4d96"/>
  </p:sldMasterIdLst>
  <p:notesMasterIdLst>
    <p:notesMasterId xmlns:r="http://schemas.openxmlformats.org/officeDocument/2006/relationships" r:id="Rce9254a329134826"/>
  </p:notesMasterIdLst>
  <p:sldIdLst>
    <p:sldId xmlns:r="http://schemas.openxmlformats.org/officeDocument/2006/relationships" id="256" r:id="R327c6339d6894b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76bcda6614b8d" /><Relationship Type="http://schemas.openxmlformats.org/officeDocument/2006/relationships/slideMaster" Target="/ppt/slideMasters/slideMaster1.xml" Id="R69478a927d6e4d96" /><Relationship Type="http://schemas.openxmlformats.org/officeDocument/2006/relationships/notesMaster" Target="/ppt/notesMasters/notesMaster1.xml" Id="Rce9254a329134826" /><Relationship Type="http://schemas.openxmlformats.org/officeDocument/2006/relationships/presProps" Target="/ppt/presProps.xml" Id="R1db992313f9f43dc" /><Relationship Type="http://schemas.openxmlformats.org/officeDocument/2006/relationships/tableStyles" Target="/ppt/tableStyles.xml" Id="Rc018da524728402f" /><Relationship Type="http://schemas.openxmlformats.org/officeDocument/2006/relationships/slide" Target="/ppt/slides/slide1.xml" Id="R327c6339d6894b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cbcdd2a26b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cfc090a64d4fc3" /><Relationship Type="http://schemas.openxmlformats.org/officeDocument/2006/relationships/notesMaster" Target="/ppt/notesMasters/notesMaster1.xml" Id="R7452cb062b87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existing results/development_metrics.json and results/laryngeal/metrics.json. Binary folds also selected settings. Three-class labels are Healthy, Laryngeal (laryngitis-labelled), Other pathology. 32 laryngitis-labelled development records; other pathology can also involve the larynx. Independent identities use record IDs as participant proxies. Subtype table evaluates the auxiliary three-class models, not the gated website display. See LARYNGEAL_REPORT.md for the full decision pipeline metrics. Gupta et al. 2026 DOI 10.3389/fdgth.2026.1800132 is a scoping review, not a reproduced benchmark. VOICED DOI 10.13026/C25Q2N.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29a4dee6848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4abccd6204b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3eb17b53844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b2d05542f4b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4127c01e443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612c8cd414d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D442E-0E75-4F5C-8882-CB7C805D8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EFE5E1-7054-4DCD-BD6A-E09D30137E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49F5A3-6EF4-42DB-BA93-AEFB1953D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A3014E-A27B-4761-8A42-864216B7D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5BEB7E-1CA9-47A1-B01D-AEBB478173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A2C8D7-BC63-47F1-8F58-1E3AB6AC9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4E9036-D900-482B-95E6-5A7BE425F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604F90-0C7A-41E4-8041-EF5D27682E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F8609A-1BEB-4E53-8DCB-DAAA249F8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1BC9CF-ED16-42A2-BFF8-C193E135BD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b8b33253314970" /><Relationship Type="http://schemas.openxmlformats.org/officeDocument/2006/relationships/slideLayout" Target="/ppt/slideLayouts/slideLayout1.xml" Id="Ra74368b5299e47fb" /><Relationship Type="http://schemas.openxmlformats.org/officeDocument/2006/relationships/slideLayout" Target="/ppt/slideLayouts/slideLayout2.xml" Id="R665fd2e0d5a345de" /><Relationship Type="http://schemas.openxmlformats.org/officeDocument/2006/relationships/slideLayout" Target="/ppt/slideLayouts/slideLayout3.xml" Id="Rb9b830753d4a40a1" /><Relationship Type="http://schemas.openxmlformats.org/officeDocument/2006/relationships/slideLayout" Target="/ppt/slideLayouts/slideLayout4.xml" Id="R80ec7efb0d514a91" /><Relationship Type="http://schemas.openxmlformats.org/officeDocument/2006/relationships/slideLayout" Target="/ppt/slideLayouts/slideLayout5.xml" Id="R6a1ba2cbe64d4b14" /><Relationship Type="http://schemas.openxmlformats.org/officeDocument/2006/relationships/slideLayout" Target="/ppt/slideLayouts/slideLayout6.xml" Id="R1f88fbb51378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4368b5299e47fb"/>
    <p:sldLayoutId xmlns:r="http://schemas.openxmlformats.org/officeDocument/2006/relationships" id="2147483650" r:id="R665fd2e0d5a345de"/>
    <p:sldLayoutId xmlns:r="http://schemas.openxmlformats.org/officeDocument/2006/relationships" id="2147483651" r:id="Rb9b830753d4a40a1"/>
    <p:sldLayoutId xmlns:r="http://schemas.openxmlformats.org/officeDocument/2006/relationships" id="2147483652" r:id="R80ec7efb0d514a91"/>
    <p:sldLayoutId xmlns:r="http://schemas.openxmlformats.org/officeDocument/2006/relationships" id="2147483653" r:id="R6a1ba2cbe64d4b14"/>
    <p:sldLayoutId xmlns:r="http://schemas.openxmlformats.org/officeDocument/2006/relationships" id="2147483654" r:id="R1f88fbb51378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bf5fa5eeb4de8" /><Relationship Type="http://schemas.openxmlformats.org/officeDocument/2006/relationships/notesSlide" Target="/ppt/notesSlides/notesSlide1.xml" Id="Re35e39cef84147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0D3D3-A79D-4526-B15E-BE04C5B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Voice Disorder Recognizer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1810C-D16F-4D49-A5DF-5BCD2EA8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VOICED: 166 development recordings, 42 reserved for final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9541E-1494-4AEE-8F76-31173C7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Working website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5199F-12D4-493C-AD0E-6D1D6094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461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  Upload WAV/MP3 or record a vowel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25DCB-6856-4AE9-9C7E-E7613D90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619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2  Central 3 seconds at 8 kHz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MFCCs and voice-quality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11EFE-2CE3-423D-BB9C-19C4544D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619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3  Saved GMM and convolutional DNN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Training-fitted transforms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FC639-749C-4734-8713-4E479CC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619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4  Binary result and experimental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   laryngitis-group suggestion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E4A0A-C025-4B44-AD8C-60E9D5F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586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Measured development results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2D9CD-4762-418A-8C17-1480F158BBAE}"/>
              </a:ext>
            </a:extLst>
          </p:cNvPr>
          <p:cNvGraphicFramePr/>
          <p:nvPr/>
        </p:nvGraphicFramePr>
        <p:xfrm>
          <a:off xmlns:a="http://schemas.openxmlformats.org/drawingml/2006/main" x="5715000" y="2371725"/>
          <a:ext xmlns:a="http://schemas.openxmlformats.org/drawingml/2006/main" cx="5867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95400"/>
                <a:gridCol w="2286000"/>
                <a:gridCol w="2286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A"/>
                      </a:solidFill>
                      <a:prstDash val="solid"/>
                    </a:lnL>
                    <a:lnR w="9525">
                      <a:solidFill>
                        <a:srgbClr val="DCE5EA"/>
                      </a:solidFill>
                      <a:prstDash val="solid"/>
                    </a:lnR>
                    <a:lnT w="9525">
                      <a:solidFill>
                        <a:srgbClr val="DCE5EA"/>
                      </a:solidFill>
                      <a:prstDash val="solid"/>
                    </a:lnT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Binary BA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A"/>
                      </a:solidFill>
                      <a:prstDash val="solid"/>
                    </a:lnR>
                    <a:lnT w="9525">
                      <a:solidFill>
                        <a:srgbClr val="DCE5EA"/>
                      </a:solidFill>
                      <a:prstDash val="solid"/>
                    </a:lnT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3-class BA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A"/>
                      </a:solidFill>
                      <a:prstDash val="solid"/>
                    </a:lnR>
                    <a:lnT w="9525">
                      <a:solidFill>
                        <a:srgbClr val="DCE5EA"/>
                      </a:solidFill>
                      <a:prstDash val="solid"/>
                    </a:lnT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EAF5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GMM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A"/>
                      </a:solidFill>
                      <a:prstDash val="solid"/>
                    </a:lnL>
                    <a:lnR w="9525">
                      <a:solidFill>
                        <a:srgbClr val="DCE5EA"/>
                      </a:solidFill>
                      <a:prstDash val="solid"/>
                    </a:lnR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61.6%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A"/>
                      </a:solidFill>
                      <a:prstDash val="solid"/>
                    </a:lnR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51.5%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A"/>
                      </a:solidFill>
                      <a:prstDash val="solid"/>
                    </a:lnR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DNN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A"/>
                      </a:solidFill>
                      <a:prstDash val="solid"/>
                    </a:lnL>
                    <a:lnR w="9525">
                      <a:solidFill>
                        <a:srgbClr val="DCE5EA"/>
                      </a:solidFill>
                      <a:prstDash val="solid"/>
                    </a:lnR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57.5%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A"/>
                      </a:solidFill>
                      <a:prstDash val="solid"/>
                    </a:lnR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38.4%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A"/>
                      </a:solidFill>
                      <a:prstDash val="solid"/>
                    </a:lnR>
                    <a:lnB w="9525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4C58-39E5-420F-B1A0-7F8CB0E2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586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 = balanced accuracy. Three fixed speaker-disjoint folds.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D5BC6-8CE2-41AD-B7CF-424B84D4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33950"/>
            <a:ext cx="586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Laryngitis group: precision /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8F04D-DE6D-4C30-A7D9-CD143F2A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53050"/>
            <a:ext cx="586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GMM: 32.4% / 71.9%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DNN: 27.3% / 46.9%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68B9D-090D-44A2-BCD9-63EADC2D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Preliminary validation, uncalibrated scores and frequent subtype errors.</a:t>
            </a:r>
          </a:p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Academic project, not a medical diagnosis. Final test remains sealed.</a:t>
            </a:r>
          </a:p>
        </p:txBody>
      </p:sp>
    </p:spTree>
    <p:extLst>
      <p:ext uri="{BB962C8B-B14F-4D97-AF65-F5344CB8AC3E}">
        <p14:creationId xmlns:p14="http://schemas.microsoft.com/office/powerpoint/2010/main" val="320025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2026-10-15T21:47:06.5430000Z</dcterms:created>
  <dcterms:modified xsi:type="dcterms:W3CDTF">2026-10-15T21:47:06.5440000Z</dcterms:modified>
</coreProperties>
</file>