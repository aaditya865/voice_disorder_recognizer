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25491fc785c423d" /><Relationship Type="http://schemas.openxmlformats.org/officeDocument/2006/relationships/extended-properties" Target="/docProps/app.xml" Id="R516c834399cd4f04" /><Relationship Type="http://schemas.openxmlformats.org/officeDocument/2006/relationships/officeDocument" Target="/ppt/presentation.xml" Id="R5f62bcdb947540b6" /></Relationships>
</file>

<file path=ppt/presentation.xml><?xml version="1.0" encoding="utf-8"?>
<p:presentation xmlns:p="http://schemas.openxmlformats.org/presentationml/2006/main">
  <p:sldMasterIdLst>
    <p:sldMasterId xmlns:r="http://schemas.openxmlformats.org/officeDocument/2006/relationships" id="2147483648" r:id="Rc729d836fb754651"/>
  </p:sldMasterIdLst>
  <p:notesMasterIdLst>
    <p:notesMasterId xmlns:r="http://schemas.openxmlformats.org/officeDocument/2006/relationships" r:id="R7fe37e215c9248ce"/>
  </p:notesMasterIdLst>
  <p:sldIdLst>
    <p:sldId xmlns:r="http://schemas.openxmlformats.org/officeDocument/2006/relationships" id="256" r:id="R41f5e9feb28547b3"/>
    <p:sldId xmlns:r="http://schemas.openxmlformats.org/officeDocument/2006/relationships" id="257" r:id="R94f1e7b1a44047a7"/>
    <p:sldId xmlns:r="http://schemas.openxmlformats.org/officeDocument/2006/relationships" id="258" r:id="R25957c44cf0c48c0"/>
    <p:sldId xmlns:r="http://schemas.openxmlformats.org/officeDocument/2006/relationships" id="259" r:id="Rbf634eaffd9c43cb"/>
    <p:sldId xmlns:r="http://schemas.openxmlformats.org/officeDocument/2006/relationships" id="260" r:id="R88d349a264d54d89"/>
    <p:sldId xmlns:r="http://schemas.openxmlformats.org/officeDocument/2006/relationships" id="261" r:id="R9c4bcd38ec434f39"/>
    <p:sldId xmlns:r="http://schemas.openxmlformats.org/officeDocument/2006/relationships" id="262" r:id="R19b4fb905f684560"/>
    <p:sldId xmlns:r="http://schemas.openxmlformats.org/officeDocument/2006/relationships" id="263" r:id="R85d52beac0c549f1"/>
    <p:sldId xmlns:r="http://schemas.openxmlformats.org/officeDocument/2006/relationships" id="264" r:id="Rd82e8f66cf2b410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0ac58ee642c4d0f" /><Relationship Type="http://schemas.openxmlformats.org/officeDocument/2006/relationships/slideMaster" Target="/ppt/slideMasters/slideMaster1.xml" Id="Rc729d836fb754651" /><Relationship Type="http://schemas.openxmlformats.org/officeDocument/2006/relationships/notesMaster" Target="/ppt/notesMasters/notesMaster1.xml" Id="R7fe37e215c9248ce" /><Relationship Type="http://schemas.openxmlformats.org/officeDocument/2006/relationships/presProps" Target="/ppt/presProps.xml" Id="R02d3a23334144eae" /><Relationship Type="http://schemas.openxmlformats.org/officeDocument/2006/relationships/tableStyles" Target="/ppt/tableStyles.xml" Id="Re305223a930a4611" /><Relationship Type="http://schemas.openxmlformats.org/officeDocument/2006/relationships/slide" Target="/ppt/slides/slide1.xml" Id="R41f5e9feb28547b3" /><Relationship Type="http://schemas.openxmlformats.org/officeDocument/2006/relationships/slide" Target="/ppt/slides/slide2.xml" Id="R94f1e7b1a44047a7" /><Relationship Type="http://schemas.openxmlformats.org/officeDocument/2006/relationships/slide" Target="/ppt/slides/slide3.xml" Id="R25957c44cf0c48c0" /><Relationship Type="http://schemas.openxmlformats.org/officeDocument/2006/relationships/slide" Target="/ppt/slides/slide4.xml" Id="Rbf634eaffd9c43cb" /><Relationship Type="http://schemas.openxmlformats.org/officeDocument/2006/relationships/slide" Target="/ppt/slides/slide5.xml" Id="R88d349a264d54d89" /><Relationship Type="http://schemas.openxmlformats.org/officeDocument/2006/relationships/slide" Target="/ppt/slides/slide6.xml" Id="R9c4bcd38ec434f39" /><Relationship Type="http://schemas.openxmlformats.org/officeDocument/2006/relationships/slide" Target="/ppt/slides/slide7.xml" Id="R19b4fb905f684560" /><Relationship Type="http://schemas.openxmlformats.org/officeDocument/2006/relationships/slide" Target="/ppt/slides/slide8.xml" Id="R85d52beac0c549f1" /><Relationship Type="http://schemas.openxmlformats.org/officeDocument/2006/relationships/slide" Target="/ppt/slides/slide9.xml" Id="Rd82e8f66cf2b410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350508c518f493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93e8bfede0f4586" /><Relationship Type="http://schemas.openxmlformats.org/officeDocument/2006/relationships/notesMaster" Target="/ppt/notesMasters/notesMaster1.xml" Id="R27eece26735b40f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e1957146db547ab" /><Relationship Type="http://schemas.openxmlformats.org/officeDocument/2006/relationships/notesMaster" Target="/ppt/notesMasters/notesMaster1.xml" Id="R3c4bbfe204724d85" /></Relationships>
</file>

<file path=ppt/notesSlides/_rels/notesSlide3.xml.rels>&#65279;<?xml version="1.0" encoding="utf-8"?><Relationships xmlns="http://schemas.openxmlformats.org/package/2006/relationships"><Relationship Type="http://schemas.openxmlformats.org/officeDocument/2006/relationships/slide" Target="/ppt/slides/slide3.xml" Id="Re6b8ac1c28574307" /><Relationship Type="http://schemas.openxmlformats.org/officeDocument/2006/relationships/notesMaster" Target="/ppt/notesMasters/notesMaster1.xml" Id="R0217a24888394c10" /></Relationships>
</file>

<file path=ppt/notesSlides/_rels/notesSlide4.xml.rels>&#65279;<?xml version="1.0" encoding="utf-8"?><Relationships xmlns="http://schemas.openxmlformats.org/package/2006/relationships"><Relationship Type="http://schemas.openxmlformats.org/officeDocument/2006/relationships/slide" Target="/ppt/slides/slide4.xml" Id="R544d91b50fa44132" /><Relationship Type="http://schemas.openxmlformats.org/officeDocument/2006/relationships/notesMaster" Target="/ppt/notesMasters/notesMaster1.xml" Id="Rfb10b0624a174906" /></Relationships>
</file>

<file path=ppt/notesSlides/_rels/notesSlide5.xml.rels>&#65279;<?xml version="1.0" encoding="utf-8"?><Relationships xmlns="http://schemas.openxmlformats.org/package/2006/relationships"><Relationship Type="http://schemas.openxmlformats.org/officeDocument/2006/relationships/slide" Target="/ppt/slides/slide5.xml" Id="R00fe369dbd3e4a08" /><Relationship Type="http://schemas.openxmlformats.org/officeDocument/2006/relationships/notesMaster" Target="/ppt/notesMasters/notesMaster1.xml" Id="R9392e62896b244c2" /></Relationships>
</file>

<file path=ppt/notesSlides/_rels/notesSlide6.xml.rels>&#65279;<?xml version="1.0" encoding="utf-8"?><Relationships xmlns="http://schemas.openxmlformats.org/package/2006/relationships"><Relationship Type="http://schemas.openxmlformats.org/officeDocument/2006/relationships/slide" Target="/ppt/slides/slide6.xml" Id="R5c53816636794302" /><Relationship Type="http://schemas.openxmlformats.org/officeDocument/2006/relationships/notesMaster" Target="/ppt/notesMasters/notesMaster1.xml" Id="Ra79ebf90df254de7" /></Relationships>
</file>

<file path=ppt/notesSlides/_rels/notesSlide7.xml.rels>&#65279;<?xml version="1.0" encoding="utf-8"?><Relationships xmlns="http://schemas.openxmlformats.org/package/2006/relationships"><Relationship Type="http://schemas.openxmlformats.org/officeDocument/2006/relationships/slide" Target="/ppt/slides/slide7.xml" Id="Rd8349b6a07fe42ec" /><Relationship Type="http://schemas.openxmlformats.org/officeDocument/2006/relationships/notesMaster" Target="/ppt/notesMasters/notesMaster1.xml" Id="Rebcd5183e1654b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a896d46644d54296" /><Relationship Type="http://schemas.openxmlformats.org/officeDocument/2006/relationships/notesMaster" Target="/ppt/notesMasters/notesMaster1.xml" Id="R0d99d1669f3b4bf6" /></Relationships>
</file>

<file path=ppt/notesSlides/_rels/notesSlide9.xml.rels>&#65279;<?xml version="1.0" encoding="utf-8"?><Relationships xmlns="http://schemas.openxmlformats.org/package/2006/relationships"><Relationship Type="http://schemas.openxmlformats.org/officeDocument/2006/relationships/slide" Target="/ppt/slides/slide9.xml" Id="Re4cad2ddb35c402b" /><Relationship Type="http://schemas.openxmlformats.org/officeDocument/2006/relationships/notesMaster" Target="/ppt/notesMasters/notesMaster1.xml" Id="R29095ac6ca1b44b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academic project compares Gaussian mixture and deep neural models for recognizing healthy versus pathological sustained vowels. We built a shared training and website pipeline and measured its limitations. The current revision has development validation only, not a new independent clinical test.</a:t>
            </a:r>
          </a:p>
          <a:p xmlns:a="http://schemas.openxmlformats.org/drawingml/2006/main">
            <a:r>
              <a:t/>
            </a:r>
          </a:p>
          <a:p xmlns:a="http://schemas.openxmlformats.org/drawingml/2006/main">
            <a:r>
              <a:t>Sources:</a:t>
            </a:r>
          </a:p>
          <a:p xmlns:a="http://schemas.openxmlformats.org/drawingml/2006/main">
            <a:r>
              <a:t>README.md</a:t>
            </a:r>
          </a:p>
          <a:p xmlns:a="http://schemas.openxmlformats.org/drawingml/2006/main">
            <a:r>
              <a:t>V3_REPORT.md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task is binary classification of a sustained aa vowel. The three disorder groups are exploratory and always uncertain. Gupta and colleagues reviewed 80 multiclass studies; the paper motivates speaker separation, complementary voice-quality features and honest external evaluation. It does not prove that GMM or DNN is the best model.</a:t>
            </a:r>
          </a:p>
          <a:p xmlns:a="http://schemas.openxmlformats.org/drawingml/2006/main">
            <a:r>
              <a:t/>
            </a:r>
          </a:p>
          <a:p xmlns:a="http://schemas.openxmlformats.org/drawingml/2006/main">
            <a:r>
              <a:t>Sources:</a:t>
            </a:r>
          </a:p>
          <a:p xmlns:a="http://schemas.openxmlformats.org/drawingml/2006/main">
            <a:r>
              <a:t>V3_REPORT.md</a:t>
            </a:r>
          </a:p>
          <a:p xmlns:a="http://schemas.openxmlformats.org/drawingml/2006/main">
            <a:r>
              <a:t>Gupta et al. 2026: https://doi.org/10.3389/fdgth.2026.1800132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SVD contributes 1,212 unique speaker IDs after auditing. VOICED contributes 208 release record IDs used as participant proxies; identity cannot be independently reverified. The file labels give 57 healthy and 151 pathological VOICED records, rather than its website summary. All previously evaluated VOICED cases now count as development data. SVD healthy and pathological speakers differ greatly in age, which remains a potential confounder.</a:t>
            </a:r>
          </a:p>
          <a:p xmlns:a="http://schemas.openxmlformats.org/drawingml/2006/main">
            <a:r>
              <a:t/>
            </a:r>
          </a:p>
          <a:p xmlns:a="http://schemas.openxmlformats.org/drawingml/2006/main">
            <a:r>
              <a:t>Sources:</a:t>
            </a:r>
          </a:p>
          <a:p xmlns:a="http://schemas.openxmlformats.org/drawingml/2006/main">
            <a:r>
              <a:t>artifacts_v3/dataset_audit.csv</a:t>
            </a:r>
          </a:p>
          <a:p xmlns:a="http://schemas.openxmlformats.org/drawingml/2006/main">
            <a:r>
              <a:t>artifacts_v3/voiced_label_audit.csv</a:t>
            </a:r>
          </a:p>
          <a:p xmlns:a="http://schemas.openxmlformats.org/drawingml/2006/main">
            <a:r>
              <a:t>https://zenodo.org/records/16874898</a:t>
            </a:r>
          </a:p>
          <a:p xmlns:a="http://schemas.openxmlformats.org/drawingml/2006/main">
            <a:r>
              <a:t>https://physionet.org/content/voiced/1.0.0/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website reuses training feature extraction and the saved transforms. It accepts WAV or MP3, checks duration and silence, and analyzes at most the central five seconds. We compare 16 and 8 kHz variants. The 97 features include MFCC and delta statistics, CPPS, HNR, pitch, jitter, shimmer and spectral measures. The CNN additionally sees log-Mel spectrograms. Models load once; invalid inputs produce an error rather than a fabricated output.</a:t>
            </a:r>
          </a:p>
          <a:p xmlns:a="http://schemas.openxmlformats.org/drawingml/2006/main">
            <a:r>
              <a:t/>
            </a:r>
          </a:p>
          <a:p xmlns:a="http://schemas.openxmlformats.org/drawingml/2006/main">
            <a:r>
              <a:t>Sources:</a:t>
            </a:r>
          </a:p>
          <a:p xmlns:a="http://schemas.openxmlformats.org/drawingml/2006/main">
            <a:r>
              <a:t>svd_v3.py</a:t>
            </a:r>
          </a:p>
          <a:p xmlns:a="http://schemas.openxmlformats.org/drawingml/2006/main">
            <a:r>
              <a:t>voice_review/release_web.py</a:t>
            </a:r>
          </a:p>
          <a:p xmlns:a="http://schemas.openxmlformats.org/drawingml/2006/main">
            <a:r>
              <a:t>app.py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compare six configurations at each of two sampling rates: three GMMs, two MLPs and one CNN. Four outer participant-disjoint folds assess the entire selection procedure, with three inner folds choosing settings. Imputation, scaling and balancing occur only within fitting partitions. Separate participants support calibration and neural-network stopping. The selection objective gives SVD and VOICED equal importance. Scores within 0.01 prefer the simpler model. This reduces selection bias but does not erase prior knowledge of these datasets.</a:t>
            </a:r>
          </a:p>
          <a:p xmlns:a="http://schemas.openxmlformats.org/drawingml/2006/main">
            <a:r>
              <a:t/>
            </a:r>
          </a:p>
          <a:p xmlns:a="http://schemas.openxmlformats.org/drawingml/2006/main">
            <a:r>
              <a:t>Sources:</a:t>
            </a:r>
          </a:p>
          <a:p xmlns:a="http://schemas.openxmlformats.org/drawingml/2006/main">
            <a:r>
              <a:t>svd_v3.py</a:t>
            </a:r>
          </a:p>
          <a:p xmlns:a="http://schemas.openxmlformats.org/drawingml/2006/main">
            <a:r>
              <a:t>artifacts_v3/protocol.json</a:t>
            </a:r>
          </a:p>
          <a:p xmlns:a="http://schemas.openxmlformats.org/drawingml/2006/main">
            <a:r>
              <a:t>artifacts_v3/nested_folds.json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numbers pool the outer held-out predictions of the selection procedure. They are not an untouched evaluation of the final refitted model. The complete report includes family comparisons, fold means and standard deviations, per-class results and participant bootstrap intervals. Do not compare these VOICED scores with the old external test as though both were independent tests.</a:t>
            </a:r>
          </a:p>
          <a:p xmlns:a="http://schemas.openxmlformats.org/drawingml/2006/main">
            <a:r>
              <a:t/>
            </a:r>
          </a:p>
          <a:p xmlns:a="http://schemas.openxmlformats.org/drawingml/2006/main">
            <a:r>
              <a:t>Sources:</a:t>
            </a:r>
          </a:p>
          <a:p xmlns:a="http://schemas.openxmlformats.org/drawingml/2006/main">
            <a:r>
              <a:t>artifacts_v3/nested_metrics.csv</a:t>
            </a:r>
          </a:p>
          <a:p xmlns:a="http://schemas.openxmlformats.org/drawingml/2006/main">
            <a:r>
              <a:t>artifacts_v3/nested_summary.json</a:t>
            </a:r>
          </a:p>
          <a:p xmlns:a="http://schemas.openxmlformats.org/drawingml/2006/main">
            <a:r>
              <a:t>V3_REPORT.md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new source-specific confusion counts come from nested development evaluation. Earlier, the SVD-only v2 model was evaluated once on 42 reserved VOICED cases. It detected only four of thirty pathological recordings, giving balanced accuracy 0.525. We preserved that result. The current experiment uses VOICED as development, so its new scores cannot establish repaired external generalization.</a:t>
            </a:r>
          </a:p>
          <a:p xmlns:a="http://schemas.openxmlformats.org/drawingml/2006/main">
            <a:r>
              <a:t/>
            </a:r>
          </a:p>
          <a:p xmlns:a="http://schemas.openxmlformats.org/drawingml/2006/main">
            <a:r>
              <a:t>Sources:</a:t>
            </a:r>
          </a:p>
          <a:p xmlns:a="http://schemas.openxmlformats.org/drawingml/2006/main">
            <a:r>
              <a:t>artifacts_v3/nested_summary.json</a:t>
            </a:r>
          </a:p>
          <a:p xmlns:a="http://schemas.openxmlformats.org/drawingml/2006/main">
            <a:r>
              <a:t>artifacts_svd_v2/external_binary_test_metrics.json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tested confidence thresholds using inner validation, requiring minimum accuracy and coverage in each source. If none qualifies, every binary output is uncertain. Even a qualifying rule is not a clinical guarantee. We report outer-fold acceptance coverage and errors. All subtype predictions remain uncertain because the earlier subtype experiment did not support reliable identification. Unknown recording conditions, age and sex differences, short vowels and incomplete labels remain limitations.</a:t>
            </a:r>
          </a:p>
          <a:p xmlns:a="http://schemas.openxmlformats.org/drawingml/2006/main">
            <a:r>
              <a:t/>
            </a:r>
          </a:p>
          <a:p xmlns:a="http://schemas.openxmlformats.org/drawingml/2006/main">
            <a:r>
              <a:t>Sources:</a:t>
            </a:r>
          </a:p>
          <a:p xmlns:a="http://schemas.openxmlformats.org/drawingml/2006/main">
            <a:r>
              <a:t>artifacts_v3/release.json</a:t>
            </a:r>
          </a:p>
          <a:p xmlns:a="http://schemas.openxmlformats.org/drawingml/2006/main">
            <a:r>
              <a:t>artifacts_v3/nested_summary.json</a:t>
            </a:r>
          </a:p>
          <a:p xmlns:a="http://schemas.openxmlformats.org/drawingml/2006/main">
            <a:r>
              <a:t>voice_review/release_web.py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demonstration, start the local app, choose a supplied development example and click Analyze Voice. Explain the binary result, uncertainty, two model scores and exploratory ranking. The files were chosen by source/label order, not by prediction correctness. Show a malformed or very short recording only if time allows. The local application does not need internet after installation. Next work requires representative new speakers and a genuinely untouched external cohort, not repeated tuning on the same demo files.</a:t>
            </a:r>
          </a:p>
          <a:p xmlns:a="http://schemas.openxmlformats.org/drawingml/2006/main">
            <a:r>
              <a:t/>
            </a:r>
          </a:p>
          <a:p xmlns:a="http://schemas.openxmlformats.org/drawingml/2006/main">
            <a:r>
              <a:t>Sources:</a:t>
            </a:r>
          </a:p>
          <a:p xmlns:a="http://schemas.openxmlformats.org/drawingml/2006/main">
            <a:r>
              <a:t>demo_v3/manifest.csv</a:t>
            </a:r>
          </a:p>
          <a:p xmlns:a="http://schemas.openxmlformats.org/drawingml/2006/main">
            <a:r>
              <a:t>RUN_WEBSITE.md</a:t>
            </a:r>
          </a:p>
          <a:p xmlns:a="http://schemas.openxmlformats.org/drawingml/2006/main">
            <a:r>
              <a:t>artifacts_v3/runtime_benchmark.json</a:t>
            </a:r>
          </a:p>
          <a:p xmlns:a="http://schemas.openxmlformats.org/drawingml/2006/main">
            <a:r>
              <a:t>DEMO_AND_QA.md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8f1eb9ee8ba428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7dbcdf97c734d6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2f94e689a36471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fccdcc1741545c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bcdffbdd101412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5b0229cfe2b494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9241C3F-548E-4B3A-8AB5-273A58DD609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143972D-1602-4200-A727-2B2DDDBE124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7356E20-D99A-48BF-B91F-52A5C2DA021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47454A6-2241-49AC-A6FB-CC606E0156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EF51393-3041-4926-8BDD-C837F26E776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430B30A-015B-4889-A8BF-5186AD60AE7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A3ED5A4-87F1-4566-92EE-CC779A984EA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51FABB0-3953-4072-9704-8DADC5155D9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B051243-0EB2-45B9-8443-EC71ACCB56F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1BD70DB-C626-4D10-BB44-92339F7A624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109bbf9e0e3435a" /><Relationship Type="http://schemas.openxmlformats.org/officeDocument/2006/relationships/slideLayout" Target="/ppt/slideLayouts/slideLayout1.xml" Id="R69407fcb3f5c4225" /><Relationship Type="http://schemas.openxmlformats.org/officeDocument/2006/relationships/slideLayout" Target="/ppt/slideLayouts/slideLayout2.xml" Id="R6fed6abafa8b4e3a" /><Relationship Type="http://schemas.openxmlformats.org/officeDocument/2006/relationships/slideLayout" Target="/ppt/slideLayouts/slideLayout3.xml" Id="R6a79c04e8ca84857" /><Relationship Type="http://schemas.openxmlformats.org/officeDocument/2006/relationships/slideLayout" Target="/ppt/slideLayouts/slideLayout4.xml" Id="R996ab8df7e9640ac" /><Relationship Type="http://schemas.openxmlformats.org/officeDocument/2006/relationships/slideLayout" Target="/ppt/slideLayouts/slideLayout5.xml" Id="Ra17fb0af0bb648a0" /><Relationship Type="http://schemas.openxmlformats.org/officeDocument/2006/relationships/slideLayout" Target="/ppt/slideLayouts/slideLayout6.xml" Id="R80e439d0eeb4423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9407fcb3f5c4225"/>
    <p:sldLayoutId xmlns:r="http://schemas.openxmlformats.org/officeDocument/2006/relationships" id="2147483650" r:id="R6fed6abafa8b4e3a"/>
    <p:sldLayoutId xmlns:r="http://schemas.openxmlformats.org/officeDocument/2006/relationships" id="2147483651" r:id="R6a79c04e8ca84857"/>
    <p:sldLayoutId xmlns:r="http://schemas.openxmlformats.org/officeDocument/2006/relationships" id="2147483652" r:id="R996ab8df7e9640ac"/>
    <p:sldLayoutId xmlns:r="http://schemas.openxmlformats.org/officeDocument/2006/relationships" id="2147483653" r:id="Ra17fb0af0bb648a0"/>
    <p:sldLayoutId xmlns:r="http://schemas.openxmlformats.org/officeDocument/2006/relationships" id="2147483654" r:id="R80e439d0eeb4423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0310d0961004ceb" /><Relationship Type="http://schemas.openxmlformats.org/officeDocument/2006/relationships/notesSlide" Target="/ppt/notesSlides/notesSlide1.xml" Id="R88388733ad02441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7052e0e78f843a7" /><Relationship Type="http://schemas.openxmlformats.org/officeDocument/2006/relationships/notesSlide" Target="/ppt/notesSlides/notesSlide2.xml" Id="R1f1fa843f2f54ee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77d4569ac5249b6" /><Relationship Type="http://schemas.openxmlformats.org/officeDocument/2006/relationships/notesSlide" Target="/ppt/notesSlides/notesSlide3.xml" Id="R19616d0c7633482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fdaf170911d4638" /><Relationship Type="http://schemas.openxmlformats.org/officeDocument/2006/relationships/notesSlide" Target="/ppt/notesSlides/notesSlide4.xml" Id="R5b99d44cbcf64c7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acb0377ba7c45e1" /><Relationship Type="http://schemas.openxmlformats.org/officeDocument/2006/relationships/notesSlide" Target="/ppt/notesSlides/notesSlide5.xml" Id="R3aeed9f25aa74f8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f70d93f1fa245e7" /><Relationship Type="http://schemas.openxmlformats.org/officeDocument/2006/relationships/notesSlide" Target="/ppt/notesSlides/notesSlide6.xml" Id="R51919abe3415482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0e1085b50a14e6c" /><Relationship Type="http://schemas.openxmlformats.org/officeDocument/2006/relationships/notesSlide" Target="/ppt/notesSlides/notesSlide7.xml" Id="Rd7f504d982b34a2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10a1c6517104e10" /><Relationship Type="http://schemas.openxmlformats.org/officeDocument/2006/relationships/notesSlide" Target="/ppt/notesSlides/notesSlide8.xml" Id="R0fa534959dc8403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131307b5c46435a" /><Relationship Type="http://schemas.openxmlformats.org/officeDocument/2006/relationships/notesSlide" Target="/ppt/notesSlides/notesSlide9.xml" Id="Rb3b5844efb9b4d77" /></Relationships>
</file>

<file path=ppt/slides/slide1.xml><?xml version="1.0" encoding="utf-8"?>
<p:sld xmlns:p="http://schemas.openxmlformats.org/presentationml/2006/main">
  <p:cSld>
    <p:bg>
      <p:bgPr>
        <a:solidFill xmlns:a="http://schemas.openxmlformats.org/drawingml/2006/main">
          <a:srgbClr val="083E3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492D419-55CD-4BD8-ADF7-E7F401D1CB29}"/>
              </a:ext>
            </a:extLst>
          </p:cNvPr>
          <p:cNvSpPr>
            <a:spLocks xmlns:a="http://schemas.openxmlformats.org/drawingml/2006/main" noGrp="1"/>
          </p:cNvSpPr>
          <p:nvPr/>
        </p:nvSpPr>
        <p:spPr>
          <a:xfrm xmlns:a="http://schemas.openxmlformats.org/drawingml/2006/main">
            <a:off x="11239500" y="64008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D6EBE7"/>
                </a:solidFill>
                <a:latin typeface="Arial"/>
                <a:ea typeface="Arial"/>
                <a:cs typeface="Arial"/>
              </a:defRPr>
            </a:defPPr>
            <a:lvl1pPr>
              <a:defRPr sz="1350" b="0">
                <a:solidFill>
                  <a:srgbClr val="D6EBE7"/>
                </a:solidFill>
                <a:latin typeface="Arial"/>
                <a:ea typeface="Arial"/>
                <a:cs typeface="Arial"/>
              </a:defRPr>
            </a:lvl1pPr>
            <a:lvl2pPr>
              <a:defRPr sz="1350" b="0">
                <a:solidFill>
                  <a:srgbClr val="D6EBE7"/>
                </a:solidFill>
                <a:latin typeface="Arial"/>
                <a:ea typeface="Arial"/>
                <a:cs typeface="Arial"/>
              </a:defRPr>
            </a:lvl2pPr>
            <a:lvl3pPr>
              <a:defRPr sz="1350" b="0">
                <a:solidFill>
                  <a:srgbClr val="D6EBE7"/>
                </a:solidFill>
                <a:latin typeface="Arial"/>
                <a:ea typeface="Arial"/>
                <a:cs typeface="Arial"/>
              </a:defRPr>
            </a:lvl3pPr>
            <a:lvl4pPr>
              <a:defRPr sz="1350" b="0">
                <a:solidFill>
                  <a:srgbClr val="D6EBE7"/>
                </a:solidFill>
                <a:latin typeface="Arial"/>
                <a:ea typeface="Arial"/>
                <a:cs typeface="Arial"/>
              </a:defRPr>
            </a:lvl4pPr>
            <a:lvl5pPr>
              <a:defRPr sz="1350" b="0">
                <a:solidFill>
                  <a:srgbClr val="D6EBE7"/>
                </a:solidFill>
                <a:latin typeface="Arial"/>
                <a:ea typeface="Arial"/>
                <a:cs typeface="Arial"/>
              </a:defRPr>
            </a:lvl5pPr>
            <a:lvl6pPr>
              <a:defRPr sz="1350" b="0">
                <a:solidFill>
                  <a:srgbClr val="D6EBE7"/>
                </a:solidFill>
                <a:latin typeface="Arial"/>
                <a:ea typeface="Arial"/>
                <a:cs typeface="Arial"/>
              </a:defRPr>
            </a:lvl6pPr>
            <a:lvl7pPr>
              <a:defRPr sz="1350" b="0">
                <a:solidFill>
                  <a:srgbClr val="D6EBE7"/>
                </a:solidFill>
                <a:latin typeface="Arial"/>
                <a:ea typeface="Arial"/>
                <a:cs typeface="Arial"/>
              </a:defRPr>
            </a:lvl7pPr>
            <a:lvl8pPr>
              <a:defRPr sz="1350" b="0">
                <a:solidFill>
                  <a:srgbClr val="D6EBE7"/>
                </a:solidFill>
                <a:latin typeface="Arial"/>
                <a:ea typeface="Arial"/>
                <a:cs typeface="Arial"/>
              </a:defRPr>
            </a:lvl8pPr>
            <a:lvl9pPr>
              <a:defRPr sz="1350" b="0">
                <a:solidFill>
                  <a:srgbClr val="D6EBE7"/>
                </a:solidFill>
                <a:latin typeface="Arial"/>
                <a:ea typeface="Arial"/>
                <a:cs typeface="Arial"/>
              </a:defRPr>
            </a:lvl9pPr>
          </a:lstStyle>
          <a:p xmlns:a="http://schemas.openxmlformats.org/drawingml/2006/main">
            <a:pPr>
              <a:defRPr sz="1350" b="0">
                <a:solidFill>
                  <a:srgbClr val="D6EBE7"/>
                </a:solidFill>
                <a:latin typeface="Arial"/>
                <a:ea typeface="Arial"/>
                <a:cs typeface="Arial"/>
              </a:defRPr>
            </a:pPr>
            <a:r>
              <a:rPr sz="1350" b="0">
                <a:solidFill>
                  <a:srgbClr val="D6EBE7"/>
                </a:solidFill>
                <a:latin typeface="Arial"/>
                <a:ea typeface="Arial"/>
                <a:cs typeface="Arial"/>
              </a:rPr>
              <a:t>1</a:t>
            </a:r>
          </a:p>
        </p:txBody>
      </p:sp>
      <p:sp>
        <p:nvSpPr>
          <p:cNvPr id="2" name="">
            <a:extLst xmlns:a="http://schemas.openxmlformats.org/drawingml/2006/main">
              <a:ext uri="{FF2B5EF4-FFF2-40B4-BE49-F238E27FC236}">
                <a16:creationId xmlns:a16="http://schemas.microsoft.com/office/drawing/2014/main" id="{E33A9B9D-59C5-41F9-8894-8C7BD8CC789D}"/>
              </a:ext>
            </a:extLst>
          </p:cNvPr>
          <p:cNvSpPr>
            <a:spLocks xmlns:a="http://schemas.openxmlformats.org/drawingml/2006/main" noGrp="1"/>
          </p:cNvSpPr>
          <p:nvPr/>
        </p:nvSpPr>
        <p:spPr>
          <a:xfrm xmlns:a="http://schemas.openxmlformats.org/drawingml/2006/main">
            <a:off x="609600" y="1381125"/>
            <a:ext cx="10572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950" b="1">
                <a:solidFill>
                  <a:srgbClr val="FFFFFF"/>
                </a:solidFill>
                <a:latin typeface="Arial"/>
                <a:ea typeface="Arial"/>
                <a:cs typeface="Arial"/>
              </a:defRPr>
            </a:defPPr>
            <a:lvl1pPr>
              <a:defRPr sz="4950" b="1">
                <a:solidFill>
                  <a:srgbClr val="FFFFFF"/>
                </a:solidFill>
                <a:latin typeface="Arial"/>
                <a:ea typeface="Arial"/>
                <a:cs typeface="Arial"/>
              </a:defRPr>
            </a:lvl1pPr>
            <a:lvl2pPr>
              <a:defRPr sz="4950" b="1">
                <a:solidFill>
                  <a:srgbClr val="FFFFFF"/>
                </a:solidFill>
                <a:latin typeface="Arial"/>
                <a:ea typeface="Arial"/>
                <a:cs typeface="Arial"/>
              </a:defRPr>
            </a:lvl2pPr>
            <a:lvl3pPr>
              <a:defRPr sz="4950" b="1">
                <a:solidFill>
                  <a:srgbClr val="FFFFFF"/>
                </a:solidFill>
                <a:latin typeface="Arial"/>
                <a:ea typeface="Arial"/>
                <a:cs typeface="Arial"/>
              </a:defRPr>
            </a:lvl3pPr>
            <a:lvl4pPr>
              <a:defRPr sz="4950" b="1">
                <a:solidFill>
                  <a:srgbClr val="FFFFFF"/>
                </a:solidFill>
                <a:latin typeface="Arial"/>
                <a:ea typeface="Arial"/>
                <a:cs typeface="Arial"/>
              </a:defRPr>
            </a:lvl4pPr>
            <a:lvl5pPr>
              <a:defRPr sz="4950" b="1">
                <a:solidFill>
                  <a:srgbClr val="FFFFFF"/>
                </a:solidFill>
                <a:latin typeface="Arial"/>
                <a:ea typeface="Arial"/>
                <a:cs typeface="Arial"/>
              </a:defRPr>
            </a:lvl5pPr>
            <a:lvl6pPr>
              <a:defRPr sz="4950" b="1">
                <a:solidFill>
                  <a:srgbClr val="FFFFFF"/>
                </a:solidFill>
                <a:latin typeface="Arial"/>
                <a:ea typeface="Arial"/>
                <a:cs typeface="Arial"/>
              </a:defRPr>
            </a:lvl6pPr>
            <a:lvl7pPr>
              <a:defRPr sz="4950" b="1">
                <a:solidFill>
                  <a:srgbClr val="FFFFFF"/>
                </a:solidFill>
                <a:latin typeface="Arial"/>
                <a:ea typeface="Arial"/>
                <a:cs typeface="Arial"/>
              </a:defRPr>
            </a:lvl7pPr>
            <a:lvl8pPr>
              <a:defRPr sz="4950" b="1">
                <a:solidFill>
                  <a:srgbClr val="FFFFFF"/>
                </a:solidFill>
                <a:latin typeface="Arial"/>
                <a:ea typeface="Arial"/>
                <a:cs typeface="Arial"/>
              </a:defRPr>
            </a:lvl8pPr>
            <a:lvl9pPr>
              <a:defRPr sz="4950" b="1">
                <a:solidFill>
                  <a:srgbClr val="FFFFFF"/>
                </a:solidFill>
                <a:latin typeface="Arial"/>
                <a:ea typeface="Arial"/>
                <a:cs typeface="Arial"/>
              </a:defRPr>
            </a:lvl9pPr>
          </a:lstStyle>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Voice Disorder</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Recognizer</a:t>
            </a:r>
          </a:p>
        </p:txBody>
      </p:sp>
      <p:sp>
        <p:nvSpPr>
          <p:cNvPr id="3" name="">
            <a:extLst xmlns:a="http://schemas.openxmlformats.org/drawingml/2006/main">
              <a:ext uri="{FF2B5EF4-FFF2-40B4-BE49-F238E27FC236}">
                <a16:creationId xmlns:a16="http://schemas.microsoft.com/office/drawing/2014/main" id="{784D28C0-A8C0-4F1B-A0FB-4D5BFE2B03B4}"/>
              </a:ext>
            </a:extLst>
          </p:cNvPr>
          <p:cNvSpPr>
            <a:spLocks xmlns:a="http://schemas.openxmlformats.org/drawingml/2006/main" noGrp="1"/>
          </p:cNvSpPr>
          <p:nvPr/>
        </p:nvSpPr>
        <p:spPr>
          <a:xfrm xmlns:a="http://schemas.openxmlformats.org/drawingml/2006/main">
            <a:off x="647700" y="35718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D6EBE7"/>
                </a:solidFill>
                <a:latin typeface="Arial"/>
                <a:ea typeface="Arial"/>
                <a:cs typeface="Arial"/>
              </a:defRPr>
            </a:defPPr>
            <a:lvl1pPr>
              <a:defRPr sz="2400" b="0">
                <a:solidFill>
                  <a:srgbClr val="D6EBE7"/>
                </a:solidFill>
                <a:latin typeface="Arial"/>
                <a:ea typeface="Arial"/>
                <a:cs typeface="Arial"/>
              </a:defRPr>
            </a:lvl1pPr>
            <a:lvl2pPr>
              <a:defRPr sz="2400" b="0">
                <a:solidFill>
                  <a:srgbClr val="D6EBE7"/>
                </a:solidFill>
                <a:latin typeface="Arial"/>
                <a:ea typeface="Arial"/>
                <a:cs typeface="Arial"/>
              </a:defRPr>
            </a:lvl2pPr>
            <a:lvl3pPr>
              <a:defRPr sz="2400" b="0">
                <a:solidFill>
                  <a:srgbClr val="D6EBE7"/>
                </a:solidFill>
                <a:latin typeface="Arial"/>
                <a:ea typeface="Arial"/>
                <a:cs typeface="Arial"/>
              </a:defRPr>
            </a:lvl3pPr>
            <a:lvl4pPr>
              <a:defRPr sz="2400" b="0">
                <a:solidFill>
                  <a:srgbClr val="D6EBE7"/>
                </a:solidFill>
                <a:latin typeface="Arial"/>
                <a:ea typeface="Arial"/>
                <a:cs typeface="Arial"/>
              </a:defRPr>
            </a:lvl4pPr>
            <a:lvl5pPr>
              <a:defRPr sz="2400" b="0">
                <a:solidFill>
                  <a:srgbClr val="D6EBE7"/>
                </a:solidFill>
                <a:latin typeface="Arial"/>
                <a:ea typeface="Arial"/>
                <a:cs typeface="Arial"/>
              </a:defRPr>
            </a:lvl5pPr>
            <a:lvl6pPr>
              <a:defRPr sz="2400" b="0">
                <a:solidFill>
                  <a:srgbClr val="D6EBE7"/>
                </a:solidFill>
                <a:latin typeface="Arial"/>
                <a:ea typeface="Arial"/>
                <a:cs typeface="Arial"/>
              </a:defRPr>
            </a:lvl6pPr>
            <a:lvl7pPr>
              <a:defRPr sz="2400" b="0">
                <a:solidFill>
                  <a:srgbClr val="D6EBE7"/>
                </a:solidFill>
                <a:latin typeface="Arial"/>
                <a:ea typeface="Arial"/>
                <a:cs typeface="Arial"/>
              </a:defRPr>
            </a:lvl7pPr>
            <a:lvl8pPr>
              <a:defRPr sz="2400" b="0">
                <a:solidFill>
                  <a:srgbClr val="D6EBE7"/>
                </a:solidFill>
                <a:latin typeface="Arial"/>
                <a:ea typeface="Arial"/>
                <a:cs typeface="Arial"/>
              </a:defRPr>
            </a:lvl8pPr>
            <a:lvl9pPr>
              <a:defRPr sz="2400" b="0">
                <a:solidFill>
                  <a:srgbClr val="D6EBE7"/>
                </a:solidFill>
                <a:latin typeface="Arial"/>
                <a:ea typeface="Arial"/>
                <a:cs typeface="Arial"/>
              </a:defRPr>
            </a:lvl9pPr>
          </a:lstStyle>
          <a:p xmlns:a="http://schemas.openxmlformats.org/drawingml/2006/main">
            <a:pPr>
              <a:defRPr sz="2400" b="0">
                <a:solidFill>
                  <a:srgbClr val="D6EBE7"/>
                </a:solidFill>
                <a:latin typeface="Arial"/>
                <a:ea typeface="Arial"/>
                <a:cs typeface="Arial"/>
              </a:defRPr>
            </a:pPr>
            <a:r>
              <a:rPr sz="2400" b="0">
                <a:solidFill>
                  <a:srgbClr val="D6EBE7"/>
                </a:solidFill>
                <a:latin typeface="Arial"/>
                <a:ea typeface="Arial"/>
                <a:cs typeface="Arial"/>
              </a:rPr>
              <a:t>GMM and DNN comparison with participant-disjoint validation</a:t>
            </a:r>
          </a:p>
        </p:txBody>
      </p:sp>
      <p:sp>
        <p:nvSpPr>
          <p:cNvPr id="4" name="">
            <a:extLst xmlns:a="http://schemas.openxmlformats.org/drawingml/2006/main">
              <a:ext uri="{FF2B5EF4-FFF2-40B4-BE49-F238E27FC236}">
                <a16:creationId xmlns:a16="http://schemas.microsoft.com/office/drawing/2014/main" id="{E8B04B66-434A-4C4F-9A8E-E751D45426BD}"/>
              </a:ext>
            </a:extLst>
          </p:cNvPr>
          <p:cNvSpPr>
            <a:spLocks xmlns:a="http://schemas.openxmlformats.org/drawingml/2006/main" noGrp="1"/>
          </p:cNvSpPr>
          <p:nvPr/>
        </p:nvSpPr>
        <p:spPr>
          <a:xfrm xmlns:a="http://schemas.openxmlformats.org/drawingml/2006/main">
            <a:off x="647700" y="50482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FFFFFF"/>
                </a:solidFill>
                <a:latin typeface="Arial"/>
                <a:ea typeface="Arial"/>
                <a:cs typeface="Arial"/>
              </a:defRPr>
            </a:defPPr>
            <a:lvl1pPr>
              <a:defRPr sz="2100" b="1">
                <a:solidFill>
                  <a:srgbClr val="FFFFFF"/>
                </a:solidFill>
                <a:latin typeface="Arial"/>
                <a:ea typeface="Arial"/>
                <a:cs typeface="Arial"/>
              </a:defRPr>
            </a:lvl1pPr>
            <a:lvl2pPr>
              <a:defRPr sz="2100" b="1">
                <a:solidFill>
                  <a:srgbClr val="FFFFFF"/>
                </a:solidFill>
                <a:latin typeface="Arial"/>
                <a:ea typeface="Arial"/>
                <a:cs typeface="Arial"/>
              </a:defRPr>
            </a:lvl2pPr>
            <a:lvl3pPr>
              <a:defRPr sz="2100" b="1">
                <a:solidFill>
                  <a:srgbClr val="FFFFFF"/>
                </a:solidFill>
                <a:latin typeface="Arial"/>
                <a:ea typeface="Arial"/>
                <a:cs typeface="Arial"/>
              </a:defRPr>
            </a:lvl3pPr>
            <a:lvl4pPr>
              <a:defRPr sz="2100" b="1">
                <a:solidFill>
                  <a:srgbClr val="FFFFFF"/>
                </a:solidFill>
                <a:latin typeface="Arial"/>
                <a:ea typeface="Arial"/>
                <a:cs typeface="Arial"/>
              </a:defRPr>
            </a:lvl4pPr>
            <a:lvl5pPr>
              <a:defRPr sz="2100" b="1">
                <a:solidFill>
                  <a:srgbClr val="FFFFFF"/>
                </a:solidFill>
                <a:latin typeface="Arial"/>
                <a:ea typeface="Arial"/>
                <a:cs typeface="Arial"/>
              </a:defRPr>
            </a:lvl5pPr>
            <a:lvl6pPr>
              <a:defRPr sz="2100" b="1">
                <a:solidFill>
                  <a:srgbClr val="FFFFFF"/>
                </a:solidFill>
                <a:latin typeface="Arial"/>
                <a:ea typeface="Arial"/>
                <a:cs typeface="Arial"/>
              </a:defRPr>
            </a:lvl6pPr>
            <a:lvl7pPr>
              <a:defRPr sz="2100" b="1">
                <a:solidFill>
                  <a:srgbClr val="FFFFFF"/>
                </a:solidFill>
                <a:latin typeface="Arial"/>
                <a:ea typeface="Arial"/>
                <a:cs typeface="Arial"/>
              </a:defRPr>
            </a:lvl7pPr>
            <a:lvl8pPr>
              <a:defRPr sz="2100" b="1">
                <a:solidFill>
                  <a:srgbClr val="FFFFFF"/>
                </a:solidFill>
                <a:latin typeface="Arial"/>
                <a:ea typeface="Arial"/>
                <a:cs typeface="Arial"/>
              </a:defRPr>
            </a:lvl8pPr>
            <a:lvl9pPr>
              <a:defRPr sz="2100" b="1">
                <a:solidFill>
                  <a:srgbClr val="FFFFFF"/>
                </a:solidFill>
                <a:latin typeface="Arial"/>
                <a:ea typeface="Arial"/>
                <a:cs typeface="Arial"/>
              </a:defRPr>
            </a:lvl9pPr>
          </a:lstStyle>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Academic submission • 24 October 2026</a:t>
            </a:r>
          </a:p>
        </p:txBody>
      </p:sp>
      <p:sp>
        <p:nvSpPr>
          <p:cNvPr id="5" name="">
            <a:extLst xmlns:a="http://schemas.openxmlformats.org/drawingml/2006/main">
              <a:ext uri="{FF2B5EF4-FFF2-40B4-BE49-F238E27FC236}">
                <a16:creationId xmlns:a16="http://schemas.microsoft.com/office/drawing/2014/main" id="{D81B69EE-178D-4B16-B989-69805B4DCC26}"/>
              </a:ext>
            </a:extLst>
          </p:cNvPr>
          <p:cNvSpPr>
            <a:spLocks xmlns:a="http://schemas.openxmlformats.org/drawingml/2006/main" noGrp="1"/>
          </p:cNvSpPr>
          <p:nvPr/>
        </p:nvSpPr>
        <p:spPr>
          <a:xfrm xmlns:a="http://schemas.openxmlformats.org/drawingml/2006/main">
            <a:off x="647700" y="56197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D6EBE7"/>
                </a:solidFill>
                <a:latin typeface="Arial"/>
                <a:ea typeface="Arial"/>
                <a:cs typeface="Arial"/>
              </a:defRPr>
            </a:defPPr>
            <a:lvl1pPr>
              <a:defRPr sz="1875" b="0">
                <a:solidFill>
                  <a:srgbClr val="D6EBE7"/>
                </a:solidFill>
                <a:latin typeface="Arial"/>
                <a:ea typeface="Arial"/>
                <a:cs typeface="Arial"/>
              </a:defRPr>
            </a:lvl1pPr>
            <a:lvl2pPr>
              <a:defRPr sz="1875" b="0">
                <a:solidFill>
                  <a:srgbClr val="D6EBE7"/>
                </a:solidFill>
                <a:latin typeface="Arial"/>
                <a:ea typeface="Arial"/>
                <a:cs typeface="Arial"/>
              </a:defRPr>
            </a:lvl2pPr>
            <a:lvl3pPr>
              <a:defRPr sz="1875" b="0">
                <a:solidFill>
                  <a:srgbClr val="D6EBE7"/>
                </a:solidFill>
                <a:latin typeface="Arial"/>
                <a:ea typeface="Arial"/>
                <a:cs typeface="Arial"/>
              </a:defRPr>
            </a:lvl3pPr>
            <a:lvl4pPr>
              <a:defRPr sz="1875" b="0">
                <a:solidFill>
                  <a:srgbClr val="D6EBE7"/>
                </a:solidFill>
                <a:latin typeface="Arial"/>
                <a:ea typeface="Arial"/>
                <a:cs typeface="Arial"/>
              </a:defRPr>
            </a:lvl4pPr>
            <a:lvl5pPr>
              <a:defRPr sz="1875" b="0">
                <a:solidFill>
                  <a:srgbClr val="D6EBE7"/>
                </a:solidFill>
                <a:latin typeface="Arial"/>
                <a:ea typeface="Arial"/>
                <a:cs typeface="Arial"/>
              </a:defRPr>
            </a:lvl5pPr>
            <a:lvl6pPr>
              <a:defRPr sz="1875" b="0">
                <a:solidFill>
                  <a:srgbClr val="D6EBE7"/>
                </a:solidFill>
                <a:latin typeface="Arial"/>
                <a:ea typeface="Arial"/>
                <a:cs typeface="Arial"/>
              </a:defRPr>
            </a:lvl6pPr>
            <a:lvl7pPr>
              <a:defRPr sz="1875" b="0">
                <a:solidFill>
                  <a:srgbClr val="D6EBE7"/>
                </a:solidFill>
                <a:latin typeface="Arial"/>
                <a:ea typeface="Arial"/>
                <a:cs typeface="Arial"/>
              </a:defRPr>
            </a:lvl7pPr>
            <a:lvl8pPr>
              <a:defRPr sz="1875" b="0">
                <a:solidFill>
                  <a:srgbClr val="D6EBE7"/>
                </a:solidFill>
                <a:latin typeface="Arial"/>
                <a:ea typeface="Arial"/>
                <a:cs typeface="Arial"/>
              </a:defRPr>
            </a:lvl8pPr>
            <a:lvl9pPr>
              <a:defRPr sz="1875" b="0">
                <a:solidFill>
                  <a:srgbClr val="D6EBE7"/>
                </a:solidFill>
                <a:latin typeface="Arial"/>
                <a:ea typeface="Arial"/>
                <a:cs typeface="Arial"/>
              </a:defRPr>
            </a:lvl9pPr>
          </a:lstStyle>
          <a:p xmlns:a="http://schemas.openxmlformats.org/drawingml/2006/main">
            <a:pPr>
              <a:defRPr sz="1875" b="0">
                <a:solidFill>
                  <a:srgbClr val="D6EBE7"/>
                </a:solidFill>
                <a:latin typeface="Arial"/>
                <a:ea typeface="Arial"/>
                <a:cs typeface="Arial"/>
              </a:defRPr>
            </a:pPr>
            <a:r>
              <a:rPr sz="1875" b="0">
                <a:solidFill>
                  <a:srgbClr val="D6EBE7"/>
                </a:solidFill>
                <a:latin typeface="Arial"/>
                <a:ea typeface="Arial"/>
                <a:cs typeface="Arial"/>
              </a:rPr>
              <a:t>Research demonstration. Not a medical diagnosis.</a:t>
            </a:r>
          </a:p>
        </p:txBody>
      </p:sp>
    </p:spTree>
    <p:extLst>
      <p:ext uri="{BB962C8B-B14F-4D97-AF65-F5344CB8AC3E}">
        <p14:creationId xmlns:p14="http://schemas.microsoft.com/office/powerpoint/2010/main" val="19681513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F481192-7F6A-46C6-B0E8-4122534DF358}"/>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033"/>
                </a:solidFill>
                <a:latin typeface="Arial"/>
                <a:ea typeface="Arial"/>
                <a:cs typeface="Arial"/>
              </a:defRPr>
            </a:defPPr>
            <a:lvl1pPr>
              <a:defRPr sz="3300" b="1">
                <a:solidFill>
                  <a:srgbClr val="172033"/>
                </a:solidFill>
                <a:latin typeface="Arial"/>
                <a:ea typeface="Arial"/>
                <a:cs typeface="Arial"/>
              </a:defRPr>
            </a:lvl1pPr>
            <a:lvl2pPr>
              <a:defRPr sz="3300" b="1">
                <a:solidFill>
                  <a:srgbClr val="172033"/>
                </a:solidFill>
                <a:latin typeface="Arial"/>
                <a:ea typeface="Arial"/>
                <a:cs typeface="Arial"/>
              </a:defRPr>
            </a:lvl2pPr>
            <a:lvl3pPr>
              <a:defRPr sz="3300" b="1">
                <a:solidFill>
                  <a:srgbClr val="172033"/>
                </a:solidFill>
                <a:latin typeface="Arial"/>
                <a:ea typeface="Arial"/>
                <a:cs typeface="Arial"/>
              </a:defRPr>
            </a:lvl3pPr>
            <a:lvl4pPr>
              <a:defRPr sz="3300" b="1">
                <a:solidFill>
                  <a:srgbClr val="172033"/>
                </a:solidFill>
                <a:latin typeface="Arial"/>
                <a:ea typeface="Arial"/>
                <a:cs typeface="Arial"/>
              </a:defRPr>
            </a:lvl4pPr>
            <a:lvl5pPr>
              <a:defRPr sz="3300" b="1">
                <a:solidFill>
                  <a:srgbClr val="172033"/>
                </a:solidFill>
                <a:latin typeface="Arial"/>
                <a:ea typeface="Arial"/>
                <a:cs typeface="Arial"/>
              </a:defRPr>
            </a:lvl5pPr>
            <a:lvl6pPr>
              <a:defRPr sz="3300" b="1">
                <a:solidFill>
                  <a:srgbClr val="172033"/>
                </a:solidFill>
                <a:latin typeface="Arial"/>
                <a:ea typeface="Arial"/>
                <a:cs typeface="Arial"/>
              </a:defRPr>
            </a:lvl6pPr>
            <a:lvl7pPr>
              <a:defRPr sz="3300" b="1">
                <a:solidFill>
                  <a:srgbClr val="172033"/>
                </a:solidFill>
                <a:latin typeface="Arial"/>
                <a:ea typeface="Arial"/>
                <a:cs typeface="Arial"/>
              </a:defRPr>
            </a:lvl7pPr>
            <a:lvl8pPr>
              <a:defRPr sz="3300" b="1">
                <a:solidFill>
                  <a:srgbClr val="172033"/>
                </a:solidFill>
                <a:latin typeface="Arial"/>
                <a:ea typeface="Arial"/>
                <a:cs typeface="Arial"/>
              </a:defRPr>
            </a:lvl8pPr>
            <a:lvl9pPr>
              <a:defRPr sz="3300" b="1">
                <a:solidFill>
                  <a:srgbClr val="172033"/>
                </a:solidFill>
                <a:latin typeface="Arial"/>
                <a:ea typeface="Arial"/>
                <a:cs typeface="Arial"/>
              </a:defRPr>
            </a:lvl9pPr>
          </a:lstStyle>
          <a:p xmlns:a="http://schemas.openxmlformats.org/drawingml/2006/main">
            <a:pPr>
              <a:defRPr sz="3300" b="1">
                <a:solidFill>
                  <a:srgbClr val="172033"/>
                </a:solidFill>
                <a:latin typeface="Arial"/>
                <a:ea typeface="Arial"/>
                <a:cs typeface="Arial"/>
              </a:defRPr>
            </a:pPr>
            <a:r>
              <a:rPr sz="3300" b="1">
                <a:solidFill>
                  <a:srgbClr val="172033"/>
                </a:solidFill>
                <a:latin typeface="Arial"/>
                <a:ea typeface="Arial"/>
                <a:cs typeface="Arial"/>
              </a:rPr>
              <a:t>Research question and paper</a:t>
            </a:r>
          </a:p>
        </p:txBody>
      </p:sp>
      <p:sp>
        <p:nvSpPr>
          <p:cNvPr id="2" name="">
            <a:extLst xmlns:a="http://schemas.openxmlformats.org/drawingml/2006/main">
              <a:ext uri="{FF2B5EF4-FFF2-40B4-BE49-F238E27FC236}">
                <a16:creationId xmlns:a16="http://schemas.microsoft.com/office/drawing/2014/main" id="{7A1F5A84-9459-4098-9375-742781B1345A}"/>
              </a:ext>
            </a:extLst>
          </p:cNvPr>
          <p:cNvSpPr>
            <a:spLocks xmlns:a="http://schemas.openxmlformats.org/drawingml/2006/main" noGrp="1"/>
          </p:cNvSpPr>
          <p:nvPr/>
        </p:nvSpPr>
        <p:spPr>
          <a:xfrm xmlns:a="http://schemas.openxmlformats.org/drawingml/2006/main">
            <a:off x="11239500" y="64008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75569"/>
                </a:solidFill>
                <a:latin typeface="Arial"/>
                <a:ea typeface="Arial"/>
                <a:cs typeface="Arial"/>
              </a:defRPr>
            </a:defPPr>
            <a:lvl1pPr>
              <a:defRPr sz="1350" b="0">
                <a:solidFill>
                  <a:srgbClr val="475569"/>
                </a:solidFill>
                <a:latin typeface="Arial"/>
                <a:ea typeface="Arial"/>
                <a:cs typeface="Arial"/>
              </a:defRPr>
            </a:lvl1pPr>
            <a:lvl2pPr>
              <a:defRPr sz="1350" b="0">
                <a:solidFill>
                  <a:srgbClr val="475569"/>
                </a:solidFill>
                <a:latin typeface="Arial"/>
                <a:ea typeface="Arial"/>
                <a:cs typeface="Arial"/>
              </a:defRPr>
            </a:lvl2pPr>
            <a:lvl3pPr>
              <a:defRPr sz="1350" b="0">
                <a:solidFill>
                  <a:srgbClr val="475569"/>
                </a:solidFill>
                <a:latin typeface="Arial"/>
                <a:ea typeface="Arial"/>
                <a:cs typeface="Arial"/>
              </a:defRPr>
            </a:lvl3pPr>
            <a:lvl4pPr>
              <a:defRPr sz="1350" b="0">
                <a:solidFill>
                  <a:srgbClr val="475569"/>
                </a:solidFill>
                <a:latin typeface="Arial"/>
                <a:ea typeface="Arial"/>
                <a:cs typeface="Arial"/>
              </a:defRPr>
            </a:lvl4pPr>
            <a:lvl5pPr>
              <a:defRPr sz="1350" b="0">
                <a:solidFill>
                  <a:srgbClr val="475569"/>
                </a:solidFill>
                <a:latin typeface="Arial"/>
                <a:ea typeface="Arial"/>
                <a:cs typeface="Arial"/>
              </a:defRPr>
            </a:lvl5pPr>
            <a:lvl6pPr>
              <a:defRPr sz="1350" b="0">
                <a:solidFill>
                  <a:srgbClr val="475569"/>
                </a:solidFill>
                <a:latin typeface="Arial"/>
                <a:ea typeface="Arial"/>
                <a:cs typeface="Arial"/>
              </a:defRPr>
            </a:lvl6pPr>
            <a:lvl7pPr>
              <a:defRPr sz="1350" b="0">
                <a:solidFill>
                  <a:srgbClr val="475569"/>
                </a:solidFill>
                <a:latin typeface="Arial"/>
                <a:ea typeface="Arial"/>
                <a:cs typeface="Arial"/>
              </a:defRPr>
            </a:lvl7pPr>
            <a:lvl8pPr>
              <a:defRPr sz="1350" b="0">
                <a:solidFill>
                  <a:srgbClr val="475569"/>
                </a:solidFill>
                <a:latin typeface="Arial"/>
                <a:ea typeface="Arial"/>
                <a:cs typeface="Arial"/>
              </a:defRPr>
            </a:lvl8pPr>
            <a:lvl9pPr>
              <a:defRPr sz="1350" b="0">
                <a:solidFill>
                  <a:srgbClr val="475569"/>
                </a:solidFill>
                <a:latin typeface="Arial"/>
                <a:ea typeface="Arial"/>
                <a:cs typeface="Arial"/>
              </a:defRPr>
            </a:lvl9pPr>
          </a:lstStyle>
          <a:p xmlns:a="http://schemas.openxmlformats.org/drawingml/2006/main">
            <a:pPr>
              <a:defRPr sz="1350" b="0">
                <a:solidFill>
                  <a:srgbClr val="475569"/>
                </a:solidFill>
                <a:latin typeface="Arial"/>
                <a:ea typeface="Arial"/>
                <a:cs typeface="Arial"/>
              </a:defRPr>
            </a:pPr>
            <a:r>
              <a:rPr sz="1350" b="0">
                <a:solidFill>
                  <a:srgbClr val="475569"/>
                </a:solidFill>
                <a:latin typeface="Arial"/>
                <a:ea typeface="Arial"/>
                <a:cs typeface="Arial"/>
              </a:rPr>
              <a:t>2</a:t>
            </a:r>
          </a:p>
        </p:txBody>
      </p:sp>
      <p:sp>
        <p:nvSpPr>
          <p:cNvPr id="3" name="">
            <a:extLst xmlns:a="http://schemas.openxmlformats.org/drawingml/2006/main">
              <a:ext uri="{FF2B5EF4-FFF2-40B4-BE49-F238E27FC236}">
                <a16:creationId xmlns:a16="http://schemas.microsoft.com/office/drawing/2014/main" id="{EFD7E40C-F0C4-4E0D-A12B-87F2E5B98A32}"/>
              </a:ext>
            </a:extLst>
          </p:cNvPr>
          <p:cNvSpPr>
            <a:spLocks xmlns:a="http://schemas.openxmlformats.org/drawingml/2006/main" noGrp="1"/>
          </p:cNvSpPr>
          <p:nvPr/>
        </p:nvSpPr>
        <p:spPr>
          <a:xfrm xmlns:a="http://schemas.openxmlformats.org/drawingml/2006/main">
            <a:off x="609600" y="15240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F766E"/>
                </a:solidFill>
                <a:latin typeface="Arial"/>
                <a:ea typeface="Arial"/>
                <a:cs typeface="Arial"/>
              </a:defRPr>
            </a:defPPr>
            <a:lvl1pPr>
              <a:defRPr sz="2700" b="1">
                <a:solidFill>
                  <a:srgbClr val="0F766E"/>
                </a:solidFill>
                <a:latin typeface="Arial"/>
                <a:ea typeface="Arial"/>
                <a:cs typeface="Arial"/>
              </a:defRPr>
            </a:lvl1pPr>
            <a:lvl2pPr>
              <a:defRPr sz="2700" b="1">
                <a:solidFill>
                  <a:srgbClr val="0F766E"/>
                </a:solidFill>
                <a:latin typeface="Arial"/>
                <a:ea typeface="Arial"/>
                <a:cs typeface="Arial"/>
              </a:defRPr>
            </a:lvl2pPr>
            <a:lvl3pPr>
              <a:defRPr sz="2700" b="1">
                <a:solidFill>
                  <a:srgbClr val="0F766E"/>
                </a:solidFill>
                <a:latin typeface="Arial"/>
                <a:ea typeface="Arial"/>
                <a:cs typeface="Arial"/>
              </a:defRPr>
            </a:lvl3pPr>
            <a:lvl4pPr>
              <a:defRPr sz="2700" b="1">
                <a:solidFill>
                  <a:srgbClr val="0F766E"/>
                </a:solidFill>
                <a:latin typeface="Arial"/>
                <a:ea typeface="Arial"/>
                <a:cs typeface="Arial"/>
              </a:defRPr>
            </a:lvl4pPr>
            <a:lvl5pPr>
              <a:defRPr sz="2700" b="1">
                <a:solidFill>
                  <a:srgbClr val="0F766E"/>
                </a:solidFill>
                <a:latin typeface="Arial"/>
                <a:ea typeface="Arial"/>
                <a:cs typeface="Arial"/>
              </a:defRPr>
            </a:lvl5pPr>
            <a:lvl6pPr>
              <a:defRPr sz="2700" b="1">
                <a:solidFill>
                  <a:srgbClr val="0F766E"/>
                </a:solidFill>
                <a:latin typeface="Arial"/>
                <a:ea typeface="Arial"/>
                <a:cs typeface="Arial"/>
              </a:defRPr>
            </a:lvl6pPr>
            <a:lvl7pPr>
              <a:defRPr sz="2700" b="1">
                <a:solidFill>
                  <a:srgbClr val="0F766E"/>
                </a:solidFill>
                <a:latin typeface="Arial"/>
                <a:ea typeface="Arial"/>
                <a:cs typeface="Arial"/>
              </a:defRPr>
            </a:lvl7pPr>
            <a:lvl8pPr>
              <a:defRPr sz="2700" b="1">
                <a:solidFill>
                  <a:srgbClr val="0F766E"/>
                </a:solidFill>
                <a:latin typeface="Arial"/>
                <a:ea typeface="Arial"/>
                <a:cs typeface="Arial"/>
              </a:defRPr>
            </a:lvl8pPr>
            <a:lvl9pPr>
              <a:defRPr sz="2700" b="1">
                <a:solidFill>
                  <a:srgbClr val="0F766E"/>
                </a:solidFill>
                <a:latin typeface="Arial"/>
                <a:ea typeface="Arial"/>
                <a:cs typeface="Arial"/>
              </a:defRPr>
            </a:lvl9pPr>
          </a:lstStyle>
          <a:p xmlns:a="http://schemas.openxmlformats.org/drawingml/2006/main">
            <a:pPr>
              <a:defRPr sz="2700" b="1">
                <a:solidFill>
                  <a:srgbClr val="0F766E"/>
                </a:solidFill>
                <a:latin typeface="Arial"/>
                <a:ea typeface="Arial"/>
                <a:cs typeface="Arial"/>
              </a:defRPr>
            </a:pPr>
            <a:r>
              <a:rPr sz="2700" b="1">
                <a:solidFill>
                  <a:srgbClr val="0F766E"/>
                </a:solidFill>
                <a:latin typeface="Arial"/>
                <a:ea typeface="Arial"/>
                <a:cs typeface="Arial"/>
              </a:rPr>
              <a:t>Can GMM and DNN distinguish healthy and pathological</a:t>
            </a:r>
          </a:p>
          <a:p xmlns:a="http://schemas.openxmlformats.org/drawingml/2006/main">
            <a:pPr>
              <a:defRPr sz="2700" b="1">
                <a:solidFill>
                  <a:srgbClr val="0F766E"/>
                </a:solidFill>
                <a:latin typeface="Arial"/>
                <a:ea typeface="Arial"/>
                <a:cs typeface="Arial"/>
              </a:defRPr>
            </a:pPr>
            <a:r>
              <a:rPr sz="2700" b="1">
                <a:solidFill>
                  <a:srgbClr val="0F766E"/>
                </a:solidFill>
                <a:latin typeface="Arial"/>
                <a:ea typeface="Arial"/>
                <a:cs typeface="Arial"/>
              </a:rPr>
              <a:t>voices under participant-disjoint evaluation?</a:t>
            </a:r>
          </a:p>
        </p:txBody>
      </p:sp>
      <p:sp>
        <p:nvSpPr>
          <p:cNvPr id="4" name="">
            <a:extLst xmlns:a="http://schemas.openxmlformats.org/drawingml/2006/main">
              <a:ext uri="{FF2B5EF4-FFF2-40B4-BE49-F238E27FC236}">
                <a16:creationId xmlns:a16="http://schemas.microsoft.com/office/drawing/2014/main" id="{EB52CD9C-A266-43CA-A2DB-1115AA1D98E7}"/>
              </a:ext>
            </a:extLst>
          </p:cNvPr>
          <p:cNvSpPr>
            <a:spLocks xmlns:a="http://schemas.openxmlformats.org/drawingml/2006/main" noGrp="1"/>
          </p:cNvSpPr>
          <p:nvPr/>
        </p:nvSpPr>
        <p:spPr>
          <a:xfrm xmlns:a="http://schemas.openxmlformats.org/drawingml/2006/main">
            <a:off x="609600" y="3048000"/>
            <a:ext cx="109728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2033"/>
                </a:solidFill>
                <a:latin typeface="Arial"/>
                <a:ea typeface="Arial"/>
                <a:cs typeface="Arial"/>
              </a:defRPr>
            </a:defPPr>
            <a:lvl1pPr>
              <a:defRPr sz="2250" b="0">
                <a:solidFill>
                  <a:srgbClr val="172033"/>
                </a:solidFill>
                <a:latin typeface="Arial"/>
                <a:ea typeface="Arial"/>
                <a:cs typeface="Arial"/>
              </a:defRPr>
            </a:lvl1pPr>
            <a:lvl2pPr>
              <a:defRPr sz="2250" b="0">
                <a:solidFill>
                  <a:srgbClr val="172033"/>
                </a:solidFill>
                <a:latin typeface="Arial"/>
                <a:ea typeface="Arial"/>
                <a:cs typeface="Arial"/>
              </a:defRPr>
            </a:lvl2pPr>
            <a:lvl3pPr>
              <a:defRPr sz="2250" b="0">
                <a:solidFill>
                  <a:srgbClr val="172033"/>
                </a:solidFill>
                <a:latin typeface="Arial"/>
                <a:ea typeface="Arial"/>
                <a:cs typeface="Arial"/>
              </a:defRPr>
            </a:lvl3pPr>
            <a:lvl4pPr>
              <a:defRPr sz="2250" b="0">
                <a:solidFill>
                  <a:srgbClr val="172033"/>
                </a:solidFill>
                <a:latin typeface="Arial"/>
                <a:ea typeface="Arial"/>
                <a:cs typeface="Arial"/>
              </a:defRPr>
            </a:lvl4pPr>
            <a:lvl5pPr>
              <a:defRPr sz="2250" b="0">
                <a:solidFill>
                  <a:srgbClr val="172033"/>
                </a:solidFill>
                <a:latin typeface="Arial"/>
                <a:ea typeface="Arial"/>
                <a:cs typeface="Arial"/>
              </a:defRPr>
            </a:lvl5pPr>
            <a:lvl6pPr>
              <a:defRPr sz="2250" b="0">
                <a:solidFill>
                  <a:srgbClr val="172033"/>
                </a:solidFill>
                <a:latin typeface="Arial"/>
                <a:ea typeface="Arial"/>
                <a:cs typeface="Arial"/>
              </a:defRPr>
            </a:lvl6pPr>
            <a:lvl7pPr>
              <a:defRPr sz="2250" b="0">
                <a:solidFill>
                  <a:srgbClr val="172033"/>
                </a:solidFill>
                <a:latin typeface="Arial"/>
                <a:ea typeface="Arial"/>
                <a:cs typeface="Arial"/>
              </a:defRPr>
            </a:lvl7pPr>
            <a:lvl8pPr>
              <a:defRPr sz="2250" b="0">
                <a:solidFill>
                  <a:srgbClr val="172033"/>
                </a:solidFill>
                <a:latin typeface="Arial"/>
                <a:ea typeface="Arial"/>
                <a:cs typeface="Arial"/>
              </a:defRPr>
            </a:lvl8pPr>
            <a:lvl9pPr>
              <a:defRPr sz="2250" b="0">
                <a:solidFill>
                  <a:srgbClr val="172033"/>
                </a:solidFill>
                <a:latin typeface="Arial"/>
                <a:ea typeface="Arial"/>
                <a:cs typeface="Arial"/>
              </a:defRPr>
            </a:lvl9pPr>
          </a:lstStyle>
          <a:p xmlns:a="http://schemas.openxmlformats.org/drawingml/2006/main">
            <a:pPr>
              <a:defRPr sz="2250" b="0">
                <a:solidFill>
                  <a:srgbClr val="172033"/>
                </a:solidFill>
                <a:latin typeface="Arial"/>
                <a:ea typeface="Arial"/>
                <a:cs typeface="Arial"/>
              </a:defRPr>
            </a:pPr>
            <a:r>
              <a:rPr sz="2250" b="0">
                <a:solidFill>
                  <a:srgbClr val="172033"/>
                </a:solidFill>
                <a:latin typeface="Arial"/>
                <a:ea typeface="Arial"/>
                <a:cs typeface="Arial"/>
              </a:rPr>
              <a:t>Input: a sustained aa vowel.</a:t>
            </a:r>
          </a:p>
          <a:p xmlns:a="http://schemas.openxmlformats.org/drawingml/2006/main">
            <a:pPr>
              <a:defRPr sz="2250" b="0">
                <a:solidFill>
                  <a:srgbClr val="172033"/>
                </a:solidFill>
                <a:latin typeface="Arial"/>
                <a:ea typeface="Arial"/>
                <a:cs typeface="Arial"/>
              </a:defRPr>
            </a:pPr>
            <a:r>
              <a:rPr sz="2250" b="0">
                <a:solidFill>
                  <a:srgbClr val="172033"/>
                </a:solidFill>
                <a:latin typeface="Arial"/>
                <a:ea typeface="Arial"/>
                <a:cs typeface="Arial"/>
              </a:rPr>
              <a:t>Main output: binary research prediction or Uncertain.</a:t>
            </a:r>
          </a:p>
          <a:p xmlns:a="http://schemas.openxmlformats.org/drawingml/2006/main">
            <a:pPr>
              <a:defRPr sz="2250" b="0">
                <a:solidFill>
                  <a:srgbClr val="172033"/>
                </a:solidFill>
                <a:latin typeface="Arial"/>
                <a:ea typeface="Arial"/>
                <a:cs typeface="Arial"/>
              </a:defRPr>
            </a:pPr>
            <a:r>
              <a:rPr sz="2250" b="0">
                <a:solidFill>
                  <a:srgbClr val="172033"/>
                </a:solidFill>
                <a:latin typeface="Arial"/>
                <a:ea typeface="Arial"/>
                <a:cs typeface="Arial"/>
              </a:rPr>
              <a:t>Subtype rankings: functional group, laryngitis and paresis.</a:t>
            </a:r>
          </a:p>
        </p:txBody>
      </p:sp>
      <p:sp>
        <p:nvSpPr>
          <p:cNvPr id="5" name="">
            <a:extLst xmlns:a="http://schemas.openxmlformats.org/drawingml/2006/main">
              <a:ext uri="{FF2B5EF4-FFF2-40B4-BE49-F238E27FC236}">
                <a16:creationId xmlns:a16="http://schemas.microsoft.com/office/drawing/2014/main" id="{8C74988D-557F-4496-900D-C08A2C6CC900}"/>
              </a:ext>
            </a:extLst>
          </p:cNvPr>
          <p:cNvSpPr>
            <a:spLocks xmlns:a="http://schemas.openxmlformats.org/drawingml/2006/main" noGrp="1"/>
          </p:cNvSpPr>
          <p:nvPr/>
        </p:nvSpPr>
        <p:spPr>
          <a:xfrm xmlns:a="http://schemas.openxmlformats.org/drawingml/2006/main">
            <a:off x="609600" y="50958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475569"/>
                </a:solidFill>
                <a:latin typeface="Arial"/>
                <a:ea typeface="Arial"/>
                <a:cs typeface="Arial"/>
              </a:defRPr>
            </a:defPPr>
            <a:lvl1pPr>
              <a:defRPr sz="2100" b="0">
                <a:solidFill>
                  <a:srgbClr val="475569"/>
                </a:solidFill>
                <a:latin typeface="Arial"/>
                <a:ea typeface="Arial"/>
                <a:cs typeface="Arial"/>
              </a:defRPr>
            </a:lvl1pPr>
            <a:lvl2pPr>
              <a:defRPr sz="2100" b="0">
                <a:solidFill>
                  <a:srgbClr val="475569"/>
                </a:solidFill>
                <a:latin typeface="Arial"/>
                <a:ea typeface="Arial"/>
                <a:cs typeface="Arial"/>
              </a:defRPr>
            </a:lvl2pPr>
            <a:lvl3pPr>
              <a:defRPr sz="2100" b="0">
                <a:solidFill>
                  <a:srgbClr val="475569"/>
                </a:solidFill>
                <a:latin typeface="Arial"/>
                <a:ea typeface="Arial"/>
                <a:cs typeface="Arial"/>
              </a:defRPr>
            </a:lvl3pPr>
            <a:lvl4pPr>
              <a:defRPr sz="2100" b="0">
                <a:solidFill>
                  <a:srgbClr val="475569"/>
                </a:solidFill>
                <a:latin typeface="Arial"/>
                <a:ea typeface="Arial"/>
                <a:cs typeface="Arial"/>
              </a:defRPr>
            </a:lvl4pPr>
            <a:lvl5pPr>
              <a:defRPr sz="2100" b="0">
                <a:solidFill>
                  <a:srgbClr val="475569"/>
                </a:solidFill>
                <a:latin typeface="Arial"/>
                <a:ea typeface="Arial"/>
                <a:cs typeface="Arial"/>
              </a:defRPr>
            </a:lvl5pPr>
            <a:lvl6pPr>
              <a:defRPr sz="2100" b="0">
                <a:solidFill>
                  <a:srgbClr val="475569"/>
                </a:solidFill>
                <a:latin typeface="Arial"/>
                <a:ea typeface="Arial"/>
                <a:cs typeface="Arial"/>
              </a:defRPr>
            </a:lvl6pPr>
            <a:lvl7pPr>
              <a:defRPr sz="2100" b="0">
                <a:solidFill>
                  <a:srgbClr val="475569"/>
                </a:solidFill>
                <a:latin typeface="Arial"/>
                <a:ea typeface="Arial"/>
                <a:cs typeface="Arial"/>
              </a:defRPr>
            </a:lvl7pPr>
            <a:lvl8pPr>
              <a:defRPr sz="2100" b="0">
                <a:solidFill>
                  <a:srgbClr val="475569"/>
                </a:solidFill>
                <a:latin typeface="Arial"/>
                <a:ea typeface="Arial"/>
                <a:cs typeface="Arial"/>
              </a:defRPr>
            </a:lvl8pPr>
            <a:lvl9pPr>
              <a:defRPr sz="2100" b="0">
                <a:solidFill>
                  <a:srgbClr val="475569"/>
                </a:solidFill>
                <a:latin typeface="Arial"/>
                <a:ea typeface="Arial"/>
                <a:cs typeface="Arial"/>
              </a:defRPr>
            </a:lvl9pPr>
          </a:lstStyle>
          <a:p xmlns:a="http://schemas.openxmlformats.org/drawingml/2006/main">
            <a:pPr>
              <a:defRPr sz="2100" b="0">
                <a:solidFill>
                  <a:srgbClr val="475569"/>
                </a:solidFill>
                <a:latin typeface="Arial"/>
                <a:ea typeface="Arial"/>
                <a:cs typeface="Arial"/>
              </a:defRPr>
            </a:pPr>
            <a:r>
              <a:rPr sz="2100" b="0">
                <a:solidFill>
                  <a:srgbClr val="475569"/>
                </a:solidFill>
                <a:latin typeface="Arial"/>
                <a:ea typeface="Arial"/>
                <a:cs typeface="Arial"/>
              </a:rPr>
              <a:t>The reference is a scoping review, not a model to reproduce.</a:t>
            </a:r>
          </a:p>
          <a:p xmlns:a="http://schemas.openxmlformats.org/drawingml/2006/main">
            <a:pPr>
              <a:defRPr sz="2100" b="0">
                <a:solidFill>
                  <a:srgbClr val="475569"/>
                </a:solidFill>
                <a:latin typeface="Arial"/>
                <a:ea typeface="Arial"/>
                <a:cs typeface="Arial"/>
              </a:defRPr>
            </a:pPr>
            <a:r>
              <a:rPr sz="2100" b="0">
                <a:solidFill>
                  <a:srgbClr val="475569"/>
                </a:solidFill>
                <a:latin typeface="Arial"/>
                <a:ea typeface="Arial"/>
                <a:cs typeface="Arial"/>
              </a:rPr>
              <a:t>It supports the methodology, not an accuracy target.</a:t>
            </a:r>
          </a:p>
        </p:txBody>
      </p:sp>
    </p:spTree>
    <p:extLst>
      <p:ext uri="{BB962C8B-B14F-4D97-AF65-F5344CB8AC3E}">
        <p14:creationId xmlns:p14="http://schemas.microsoft.com/office/powerpoint/2010/main" val="168872385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39B8254-5B66-46FD-8101-49C353C62987}"/>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033"/>
                </a:solidFill>
                <a:latin typeface="Arial"/>
                <a:ea typeface="Arial"/>
                <a:cs typeface="Arial"/>
              </a:defRPr>
            </a:defPPr>
            <a:lvl1pPr>
              <a:defRPr sz="3300" b="1">
                <a:solidFill>
                  <a:srgbClr val="172033"/>
                </a:solidFill>
                <a:latin typeface="Arial"/>
                <a:ea typeface="Arial"/>
                <a:cs typeface="Arial"/>
              </a:defRPr>
            </a:lvl1pPr>
            <a:lvl2pPr>
              <a:defRPr sz="3300" b="1">
                <a:solidFill>
                  <a:srgbClr val="172033"/>
                </a:solidFill>
                <a:latin typeface="Arial"/>
                <a:ea typeface="Arial"/>
                <a:cs typeface="Arial"/>
              </a:defRPr>
            </a:lvl2pPr>
            <a:lvl3pPr>
              <a:defRPr sz="3300" b="1">
                <a:solidFill>
                  <a:srgbClr val="172033"/>
                </a:solidFill>
                <a:latin typeface="Arial"/>
                <a:ea typeface="Arial"/>
                <a:cs typeface="Arial"/>
              </a:defRPr>
            </a:lvl3pPr>
            <a:lvl4pPr>
              <a:defRPr sz="3300" b="1">
                <a:solidFill>
                  <a:srgbClr val="172033"/>
                </a:solidFill>
                <a:latin typeface="Arial"/>
                <a:ea typeface="Arial"/>
                <a:cs typeface="Arial"/>
              </a:defRPr>
            </a:lvl4pPr>
            <a:lvl5pPr>
              <a:defRPr sz="3300" b="1">
                <a:solidFill>
                  <a:srgbClr val="172033"/>
                </a:solidFill>
                <a:latin typeface="Arial"/>
                <a:ea typeface="Arial"/>
                <a:cs typeface="Arial"/>
              </a:defRPr>
            </a:lvl5pPr>
            <a:lvl6pPr>
              <a:defRPr sz="3300" b="1">
                <a:solidFill>
                  <a:srgbClr val="172033"/>
                </a:solidFill>
                <a:latin typeface="Arial"/>
                <a:ea typeface="Arial"/>
                <a:cs typeface="Arial"/>
              </a:defRPr>
            </a:lvl6pPr>
            <a:lvl7pPr>
              <a:defRPr sz="3300" b="1">
                <a:solidFill>
                  <a:srgbClr val="172033"/>
                </a:solidFill>
                <a:latin typeface="Arial"/>
                <a:ea typeface="Arial"/>
                <a:cs typeface="Arial"/>
              </a:defRPr>
            </a:lvl7pPr>
            <a:lvl8pPr>
              <a:defRPr sz="3300" b="1">
                <a:solidFill>
                  <a:srgbClr val="172033"/>
                </a:solidFill>
                <a:latin typeface="Arial"/>
                <a:ea typeface="Arial"/>
                <a:cs typeface="Arial"/>
              </a:defRPr>
            </a:lvl8pPr>
            <a:lvl9pPr>
              <a:defRPr sz="3300" b="1">
                <a:solidFill>
                  <a:srgbClr val="172033"/>
                </a:solidFill>
                <a:latin typeface="Arial"/>
                <a:ea typeface="Arial"/>
                <a:cs typeface="Arial"/>
              </a:defRPr>
            </a:lvl9pPr>
          </a:lstStyle>
          <a:p xmlns:a="http://schemas.openxmlformats.org/drawingml/2006/main">
            <a:pPr>
              <a:defRPr sz="3300" b="1">
                <a:solidFill>
                  <a:srgbClr val="172033"/>
                </a:solidFill>
                <a:latin typeface="Arial"/>
                <a:ea typeface="Arial"/>
                <a:cs typeface="Arial"/>
              </a:defRPr>
            </a:pPr>
            <a:r>
              <a:rPr sz="3300" b="1">
                <a:solidFill>
                  <a:srgbClr val="172033"/>
                </a:solidFill>
                <a:latin typeface="Arial"/>
                <a:ea typeface="Arial"/>
                <a:cs typeface="Arial"/>
              </a:rPr>
              <a:t>Two datasets, 1,420 development participants</a:t>
            </a:r>
          </a:p>
        </p:txBody>
      </p:sp>
      <p:sp>
        <p:nvSpPr>
          <p:cNvPr id="2" name="">
            <a:extLst xmlns:a="http://schemas.openxmlformats.org/drawingml/2006/main">
              <a:ext uri="{FF2B5EF4-FFF2-40B4-BE49-F238E27FC236}">
                <a16:creationId xmlns:a16="http://schemas.microsoft.com/office/drawing/2014/main" id="{F62AF4F0-0FA4-4F82-9FE2-F1173D449AF3}"/>
              </a:ext>
            </a:extLst>
          </p:cNvPr>
          <p:cNvSpPr>
            <a:spLocks xmlns:a="http://schemas.openxmlformats.org/drawingml/2006/main" noGrp="1"/>
          </p:cNvSpPr>
          <p:nvPr/>
        </p:nvSpPr>
        <p:spPr>
          <a:xfrm xmlns:a="http://schemas.openxmlformats.org/drawingml/2006/main">
            <a:off x="11239500" y="64008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75569"/>
                </a:solidFill>
                <a:latin typeface="Arial"/>
                <a:ea typeface="Arial"/>
                <a:cs typeface="Arial"/>
              </a:defRPr>
            </a:defPPr>
            <a:lvl1pPr>
              <a:defRPr sz="1350" b="0">
                <a:solidFill>
                  <a:srgbClr val="475569"/>
                </a:solidFill>
                <a:latin typeface="Arial"/>
                <a:ea typeface="Arial"/>
                <a:cs typeface="Arial"/>
              </a:defRPr>
            </a:lvl1pPr>
            <a:lvl2pPr>
              <a:defRPr sz="1350" b="0">
                <a:solidFill>
                  <a:srgbClr val="475569"/>
                </a:solidFill>
                <a:latin typeface="Arial"/>
                <a:ea typeface="Arial"/>
                <a:cs typeface="Arial"/>
              </a:defRPr>
            </a:lvl2pPr>
            <a:lvl3pPr>
              <a:defRPr sz="1350" b="0">
                <a:solidFill>
                  <a:srgbClr val="475569"/>
                </a:solidFill>
                <a:latin typeface="Arial"/>
                <a:ea typeface="Arial"/>
                <a:cs typeface="Arial"/>
              </a:defRPr>
            </a:lvl3pPr>
            <a:lvl4pPr>
              <a:defRPr sz="1350" b="0">
                <a:solidFill>
                  <a:srgbClr val="475569"/>
                </a:solidFill>
                <a:latin typeface="Arial"/>
                <a:ea typeface="Arial"/>
                <a:cs typeface="Arial"/>
              </a:defRPr>
            </a:lvl4pPr>
            <a:lvl5pPr>
              <a:defRPr sz="1350" b="0">
                <a:solidFill>
                  <a:srgbClr val="475569"/>
                </a:solidFill>
                <a:latin typeface="Arial"/>
                <a:ea typeface="Arial"/>
                <a:cs typeface="Arial"/>
              </a:defRPr>
            </a:lvl5pPr>
            <a:lvl6pPr>
              <a:defRPr sz="1350" b="0">
                <a:solidFill>
                  <a:srgbClr val="475569"/>
                </a:solidFill>
                <a:latin typeface="Arial"/>
                <a:ea typeface="Arial"/>
                <a:cs typeface="Arial"/>
              </a:defRPr>
            </a:lvl6pPr>
            <a:lvl7pPr>
              <a:defRPr sz="1350" b="0">
                <a:solidFill>
                  <a:srgbClr val="475569"/>
                </a:solidFill>
                <a:latin typeface="Arial"/>
                <a:ea typeface="Arial"/>
                <a:cs typeface="Arial"/>
              </a:defRPr>
            </a:lvl7pPr>
            <a:lvl8pPr>
              <a:defRPr sz="1350" b="0">
                <a:solidFill>
                  <a:srgbClr val="475569"/>
                </a:solidFill>
                <a:latin typeface="Arial"/>
                <a:ea typeface="Arial"/>
                <a:cs typeface="Arial"/>
              </a:defRPr>
            </a:lvl8pPr>
            <a:lvl9pPr>
              <a:defRPr sz="1350" b="0">
                <a:solidFill>
                  <a:srgbClr val="475569"/>
                </a:solidFill>
                <a:latin typeface="Arial"/>
                <a:ea typeface="Arial"/>
                <a:cs typeface="Arial"/>
              </a:defRPr>
            </a:lvl9pPr>
          </a:lstStyle>
          <a:p xmlns:a="http://schemas.openxmlformats.org/drawingml/2006/main">
            <a:pPr>
              <a:defRPr sz="1350" b="0">
                <a:solidFill>
                  <a:srgbClr val="475569"/>
                </a:solidFill>
                <a:latin typeface="Arial"/>
                <a:ea typeface="Arial"/>
                <a:cs typeface="Arial"/>
              </a:defRPr>
            </a:pPr>
            <a:r>
              <a:rPr sz="1350" b="0">
                <a:solidFill>
                  <a:srgbClr val="475569"/>
                </a:solidFill>
                <a:latin typeface="Arial"/>
                <a:ea typeface="Arial"/>
                <a:cs typeface="Arial"/>
              </a:rPr>
              <a:t>3</a:t>
            </a:r>
          </a:p>
        </p:txBody>
      </p:sp>
      <p:graphicFrame>
        <p:nvGraphicFramePr>
          <p:cNvPr id="3" name="">
            <a:extLst xmlns:a="http://schemas.openxmlformats.org/drawingml/2006/main">
              <a:ext uri="{FF2B5EF4-FFF2-40B4-BE49-F238E27FC236}">
                <a16:creationId xmlns:a16="http://schemas.microsoft.com/office/drawing/2014/main" id="{0BF2A00C-DB1D-4740-8461-14DD9C188EE2}"/>
              </a:ext>
            </a:extLst>
          </p:cNvPr>
          <p:cNvGraphicFramePr/>
          <p:nvPr/>
        </p:nvGraphicFramePr>
        <p:xfrm>
          <a:off xmlns:a="http://schemas.openxmlformats.org/drawingml/2006/main" x="609600" y="1428750"/>
          <a:ext xmlns:a="http://schemas.openxmlformats.org/drawingml/2006/main" cx="10972800" cy="2667000"/>
        </p:xfrm>
        <a:graphic xmlns:a="http://schemas.openxmlformats.org/drawingml/2006/main">
          <a:graphicData uri="http://schemas.openxmlformats.org/drawingml/2006/table">
            <a:tbl>
              <a:tblPr/>
              <a:tblGrid>
                <a:gridCol w="4191000"/>
                <a:gridCol w="2190750"/>
                <a:gridCol w="2381250"/>
                <a:gridCol w="2209800"/>
              </a:tblGrid>
              <a:tr h="666750">
                <a:tc>
                  <a:txBody>
                    <a:bodyPr/>
                    <a:lstStyle/>
                    <a:p>
                      <a:r>
                        <a:rPr sz="2025" b="1">
                          <a:solidFill>
                            <a:srgbClr val="172033"/>
                          </a:solidFill>
                          <a:latin typeface="Arial"/>
                          <a:ea typeface="Arial"/>
                          <a:cs typeface="Arial"/>
                        </a:rPr>
                        <a:t>Source</a:t>
                      </a:r>
                    </a:p>
                  </a:txBody>
                  <a:tcPr marL="91440" marR="91440" marT="45720" marB="45720">
                    <a:lnL w="9525">
                      <a:solidFill>
                        <a:srgbClr val="DCE5EA"/>
                      </a:solidFill>
                      <a:prstDash val="solid"/>
                    </a:lnL>
                    <a:lnR w="9525">
                      <a:solidFill>
                        <a:srgbClr val="DCE5EA"/>
                      </a:solidFill>
                      <a:prstDash val="solid"/>
                    </a:lnR>
                    <a:lnT w="9525">
                      <a:solidFill>
                        <a:srgbClr val="DCE5EA"/>
                      </a:solidFill>
                      <a:prstDash val="solid"/>
                    </a:lnT>
                    <a:lnB w="9525">
                      <a:solidFill>
                        <a:srgbClr val="DCE5EA"/>
                      </a:solidFill>
                      <a:prstDash val="solid"/>
                    </a:lnB>
                    <a:solidFill>
                      <a:srgbClr val="EAF5F2"/>
                    </a:solidFill>
                  </a:tcPr>
                </a:tc>
                <a:tc>
                  <a:txBody>
                    <a:bodyPr/>
                    <a:lstStyle/>
                    <a:p>
                      <a:r>
                        <a:rPr sz="2025" b="1">
                          <a:solidFill>
                            <a:srgbClr val="172033"/>
                          </a:solidFill>
                          <a:latin typeface="Arial"/>
                          <a:ea typeface="Arial"/>
                          <a:cs typeface="Arial"/>
                        </a:rPr>
                        <a:t>Healthy</a:t>
                      </a:r>
                    </a:p>
                  </a:txBody>
                  <a:tcPr marL="91440" marR="91440" marT="45720" marB="45720">
                    <a:lnR w="9525">
                      <a:solidFill>
                        <a:srgbClr val="DCE5EA"/>
                      </a:solidFill>
                      <a:prstDash val="solid"/>
                    </a:lnR>
                    <a:lnT w="9525">
                      <a:solidFill>
                        <a:srgbClr val="DCE5EA"/>
                      </a:solidFill>
                      <a:prstDash val="solid"/>
                    </a:lnT>
                    <a:lnB w="9525">
                      <a:solidFill>
                        <a:srgbClr val="DCE5EA"/>
                      </a:solidFill>
                      <a:prstDash val="solid"/>
                    </a:lnB>
                    <a:solidFill>
                      <a:srgbClr val="EAF5F2"/>
                    </a:solidFill>
                  </a:tcPr>
                </a:tc>
                <a:tc>
                  <a:txBody>
                    <a:bodyPr/>
                    <a:lstStyle/>
                    <a:p>
                      <a:r>
                        <a:rPr sz="2025" b="1">
                          <a:solidFill>
                            <a:srgbClr val="172033"/>
                          </a:solidFill>
                          <a:latin typeface="Arial"/>
                          <a:ea typeface="Arial"/>
                          <a:cs typeface="Arial"/>
                        </a:rPr>
                        <a:t>Pathological</a:t>
                      </a:r>
                    </a:p>
                  </a:txBody>
                  <a:tcPr marL="91440" marR="91440" marT="45720" marB="45720">
                    <a:lnR w="9525">
                      <a:solidFill>
                        <a:srgbClr val="DCE5EA"/>
                      </a:solidFill>
                      <a:prstDash val="solid"/>
                    </a:lnR>
                    <a:lnT w="9525">
                      <a:solidFill>
                        <a:srgbClr val="DCE5EA"/>
                      </a:solidFill>
                      <a:prstDash val="solid"/>
                    </a:lnT>
                    <a:lnB w="9525">
                      <a:solidFill>
                        <a:srgbClr val="DCE5EA"/>
                      </a:solidFill>
                      <a:prstDash val="solid"/>
                    </a:lnB>
                    <a:solidFill>
                      <a:srgbClr val="EAF5F2"/>
                    </a:solidFill>
                  </a:tcPr>
                </a:tc>
                <a:tc>
                  <a:txBody>
                    <a:bodyPr/>
                    <a:lstStyle/>
                    <a:p>
                      <a:r>
                        <a:rPr sz="2025" b="1">
                          <a:solidFill>
                            <a:srgbClr val="172033"/>
                          </a:solidFill>
                          <a:latin typeface="Arial"/>
                          <a:ea typeface="Arial"/>
                          <a:cs typeface="Arial"/>
                        </a:rPr>
                        <a:t>Total</a:t>
                      </a:r>
                    </a:p>
                  </a:txBody>
                  <a:tcPr marL="91440" marR="91440" marT="45720" marB="45720">
                    <a:lnR w="9525">
                      <a:solidFill>
                        <a:srgbClr val="DCE5EA"/>
                      </a:solidFill>
                      <a:prstDash val="solid"/>
                    </a:lnR>
                    <a:lnT w="9525">
                      <a:solidFill>
                        <a:srgbClr val="DCE5EA"/>
                      </a:solidFill>
                      <a:prstDash val="solid"/>
                    </a:lnT>
                    <a:lnB w="9525">
                      <a:solidFill>
                        <a:srgbClr val="DCE5EA"/>
                      </a:solidFill>
                      <a:prstDash val="solid"/>
                    </a:lnB>
                    <a:solidFill>
                      <a:srgbClr val="EAF5F2"/>
                    </a:solidFill>
                  </a:tcPr>
                </a:tc>
              </a:tr>
              <a:tr h="666750">
                <a:tc>
                  <a:txBody>
                    <a:bodyPr/>
                    <a:lstStyle/>
                    <a:p>
                      <a:r>
                        <a:rPr sz="2025" b="0">
                          <a:solidFill>
                            <a:srgbClr val="172033"/>
                          </a:solidFill>
                          <a:latin typeface="Arial"/>
                          <a:ea typeface="Arial"/>
                          <a:cs typeface="Arial"/>
                        </a:rPr>
                        <a:t>SVD</a:t>
                      </a:r>
                    </a:p>
                  </a:txBody>
                  <a:tcPr marL="91440" marR="91440" marT="45720" marB="45720">
                    <a:lnL w="9525">
                      <a:solidFill>
                        <a:srgbClr val="DCE5EA"/>
                      </a:solidFill>
                      <a:prstDash val="solid"/>
                    </a:lnL>
                    <a:lnR w="9525">
                      <a:solidFill>
                        <a:srgbClr val="DCE5EA"/>
                      </a:solidFill>
                      <a:prstDash val="solid"/>
                    </a:lnR>
                    <a:lnB w="9525">
                      <a:solidFill>
                        <a:srgbClr val="DCE5EA"/>
                      </a:solidFill>
                      <a:prstDash val="solid"/>
                    </a:lnB>
                    <a:solidFill>
                      <a:srgbClr val="FFFFFF"/>
                    </a:solidFill>
                  </a:tcPr>
                </a:tc>
                <a:tc>
                  <a:txBody>
                    <a:bodyPr/>
                    <a:lstStyle/>
                    <a:p>
                      <a:r>
                        <a:rPr sz="2025" b="0">
                          <a:solidFill>
                            <a:srgbClr val="172033"/>
                          </a:solidFill>
                          <a:latin typeface="Arial"/>
                          <a:ea typeface="Arial"/>
                          <a:cs typeface="Arial"/>
                        </a:rPr>
                        <a:t>660</a:t>
                      </a:r>
                    </a:p>
                  </a:txBody>
                  <a:tcPr marL="91440" marR="91440" marT="45720" marB="45720">
                    <a:lnR w="9525">
                      <a:solidFill>
                        <a:srgbClr val="DCE5EA"/>
                      </a:solidFill>
                      <a:prstDash val="solid"/>
                    </a:lnR>
                    <a:lnB w="9525">
                      <a:solidFill>
                        <a:srgbClr val="DCE5EA"/>
                      </a:solidFill>
                      <a:prstDash val="solid"/>
                    </a:lnB>
                    <a:solidFill>
                      <a:srgbClr val="FFFFFF"/>
                    </a:solidFill>
                  </a:tcPr>
                </a:tc>
                <a:tc>
                  <a:txBody>
                    <a:bodyPr/>
                    <a:lstStyle/>
                    <a:p>
                      <a:r>
                        <a:rPr sz="2025" b="0">
                          <a:solidFill>
                            <a:srgbClr val="172033"/>
                          </a:solidFill>
                          <a:latin typeface="Arial"/>
                          <a:ea typeface="Arial"/>
                          <a:cs typeface="Arial"/>
                        </a:rPr>
                        <a:t>552</a:t>
                      </a:r>
                    </a:p>
                  </a:txBody>
                  <a:tcPr marL="91440" marR="91440" marT="45720" marB="45720">
                    <a:lnR w="9525">
                      <a:solidFill>
                        <a:srgbClr val="DCE5EA"/>
                      </a:solidFill>
                      <a:prstDash val="solid"/>
                    </a:lnR>
                    <a:lnB w="9525">
                      <a:solidFill>
                        <a:srgbClr val="DCE5EA"/>
                      </a:solidFill>
                      <a:prstDash val="solid"/>
                    </a:lnB>
                    <a:solidFill>
                      <a:srgbClr val="FFFFFF"/>
                    </a:solidFill>
                  </a:tcPr>
                </a:tc>
                <a:tc>
                  <a:txBody>
                    <a:bodyPr/>
                    <a:lstStyle/>
                    <a:p>
                      <a:r>
                        <a:rPr sz="2025" b="0">
                          <a:solidFill>
                            <a:srgbClr val="172033"/>
                          </a:solidFill>
                          <a:latin typeface="Arial"/>
                          <a:ea typeface="Arial"/>
                          <a:cs typeface="Arial"/>
                        </a:rPr>
                        <a:t>1,212</a:t>
                      </a:r>
                    </a:p>
                  </a:txBody>
                  <a:tcPr marL="91440" marR="91440" marT="45720" marB="45720">
                    <a:lnR w="9525">
                      <a:solidFill>
                        <a:srgbClr val="DCE5EA"/>
                      </a:solidFill>
                      <a:prstDash val="solid"/>
                    </a:lnR>
                    <a:lnB w="9525">
                      <a:solidFill>
                        <a:srgbClr val="DCE5EA"/>
                      </a:solidFill>
                      <a:prstDash val="solid"/>
                    </a:lnB>
                    <a:solidFill>
                      <a:srgbClr val="FFFFFF"/>
                    </a:solidFill>
                  </a:tcPr>
                </a:tc>
              </a:tr>
              <a:tr h="666750">
                <a:tc>
                  <a:txBody>
                    <a:bodyPr/>
                    <a:lstStyle/>
                    <a:p>
                      <a:r>
                        <a:rPr sz="2025" b="0">
                          <a:solidFill>
                            <a:srgbClr val="172033"/>
                          </a:solidFill>
                          <a:latin typeface="Arial"/>
                          <a:ea typeface="Arial"/>
                          <a:cs typeface="Arial"/>
                        </a:rPr>
                        <a:t>VOICED</a:t>
                      </a:r>
                    </a:p>
                  </a:txBody>
                  <a:tcPr marL="91440" marR="91440" marT="45720" marB="45720">
                    <a:lnL w="9525">
                      <a:solidFill>
                        <a:srgbClr val="DCE5EA"/>
                      </a:solidFill>
                      <a:prstDash val="solid"/>
                    </a:lnL>
                    <a:lnR w="9525">
                      <a:solidFill>
                        <a:srgbClr val="DCE5EA"/>
                      </a:solidFill>
                      <a:prstDash val="solid"/>
                    </a:lnR>
                    <a:lnB w="9525">
                      <a:solidFill>
                        <a:srgbClr val="DCE5EA"/>
                      </a:solidFill>
                      <a:prstDash val="solid"/>
                    </a:lnB>
                    <a:solidFill>
                      <a:srgbClr val="FFFFFF"/>
                    </a:solidFill>
                  </a:tcPr>
                </a:tc>
                <a:tc>
                  <a:txBody>
                    <a:bodyPr/>
                    <a:lstStyle/>
                    <a:p>
                      <a:r>
                        <a:rPr sz="2025" b="0">
                          <a:solidFill>
                            <a:srgbClr val="172033"/>
                          </a:solidFill>
                          <a:latin typeface="Arial"/>
                          <a:ea typeface="Arial"/>
                          <a:cs typeface="Arial"/>
                        </a:rPr>
                        <a:t>57</a:t>
                      </a:r>
                    </a:p>
                  </a:txBody>
                  <a:tcPr marL="91440" marR="91440" marT="45720" marB="45720">
                    <a:lnR w="9525">
                      <a:solidFill>
                        <a:srgbClr val="DCE5EA"/>
                      </a:solidFill>
                      <a:prstDash val="solid"/>
                    </a:lnR>
                    <a:lnB w="9525">
                      <a:solidFill>
                        <a:srgbClr val="DCE5EA"/>
                      </a:solidFill>
                      <a:prstDash val="solid"/>
                    </a:lnB>
                    <a:solidFill>
                      <a:srgbClr val="FFFFFF"/>
                    </a:solidFill>
                  </a:tcPr>
                </a:tc>
                <a:tc>
                  <a:txBody>
                    <a:bodyPr/>
                    <a:lstStyle/>
                    <a:p>
                      <a:r>
                        <a:rPr sz="2025" b="0">
                          <a:solidFill>
                            <a:srgbClr val="172033"/>
                          </a:solidFill>
                          <a:latin typeface="Arial"/>
                          <a:ea typeface="Arial"/>
                          <a:cs typeface="Arial"/>
                        </a:rPr>
                        <a:t>151</a:t>
                      </a:r>
                    </a:p>
                  </a:txBody>
                  <a:tcPr marL="91440" marR="91440" marT="45720" marB="45720">
                    <a:lnR w="9525">
                      <a:solidFill>
                        <a:srgbClr val="DCE5EA"/>
                      </a:solidFill>
                      <a:prstDash val="solid"/>
                    </a:lnR>
                    <a:lnB w="9525">
                      <a:solidFill>
                        <a:srgbClr val="DCE5EA"/>
                      </a:solidFill>
                      <a:prstDash val="solid"/>
                    </a:lnB>
                    <a:solidFill>
                      <a:srgbClr val="FFFFFF"/>
                    </a:solidFill>
                  </a:tcPr>
                </a:tc>
                <a:tc>
                  <a:txBody>
                    <a:bodyPr/>
                    <a:lstStyle/>
                    <a:p>
                      <a:r>
                        <a:rPr sz="2025" b="0">
                          <a:solidFill>
                            <a:srgbClr val="172033"/>
                          </a:solidFill>
                          <a:latin typeface="Arial"/>
                          <a:ea typeface="Arial"/>
                          <a:cs typeface="Arial"/>
                        </a:rPr>
                        <a:t>208</a:t>
                      </a:r>
                    </a:p>
                  </a:txBody>
                  <a:tcPr marL="91440" marR="91440" marT="45720" marB="45720">
                    <a:lnR w="9525">
                      <a:solidFill>
                        <a:srgbClr val="DCE5EA"/>
                      </a:solidFill>
                      <a:prstDash val="solid"/>
                    </a:lnR>
                    <a:lnB w="9525">
                      <a:solidFill>
                        <a:srgbClr val="DCE5EA"/>
                      </a:solidFill>
                      <a:prstDash val="solid"/>
                    </a:lnB>
                    <a:solidFill>
                      <a:srgbClr val="FFFFFF"/>
                    </a:solidFill>
                  </a:tcPr>
                </a:tc>
              </a:tr>
              <a:tr h="666750">
                <a:tc>
                  <a:txBody>
                    <a:bodyPr/>
                    <a:lstStyle/>
                    <a:p>
                      <a:r>
                        <a:rPr sz="2025" b="0">
                          <a:solidFill>
                            <a:srgbClr val="172033"/>
                          </a:solidFill>
                          <a:latin typeface="Arial"/>
                          <a:ea typeface="Arial"/>
                          <a:cs typeface="Arial"/>
                        </a:rPr>
                        <a:t>Combined</a:t>
                      </a:r>
                    </a:p>
                  </a:txBody>
                  <a:tcPr marL="91440" marR="91440" marT="45720" marB="45720">
                    <a:lnL w="9525">
                      <a:solidFill>
                        <a:srgbClr val="DCE5EA"/>
                      </a:solidFill>
                      <a:prstDash val="solid"/>
                    </a:lnL>
                    <a:lnR w="9525">
                      <a:solidFill>
                        <a:srgbClr val="DCE5EA"/>
                      </a:solidFill>
                      <a:prstDash val="solid"/>
                    </a:lnR>
                    <a:lnB w="9525">
                      <a:solidFill>
                        <a:srgbClr val="DCE5EA"/>
                      </a:solidFill>
                      <a:prstDash val="solid"/>
                    </a:lnB>
                    <a:solidFill>
                      <a:srgbClr val="FFFFFF"/>
                    </a:solidFill>
                  </a:tcPr>
                </a:tc>
                <a:tc>
                  <a:txBody>
                    <a:bodyPr/>
                    <a:lstStyle/>
                    <a:p>
                      <a:r>
                        <a:rPr sz="2025" b="0">
                          <a:solidFill>
                            <a:srgbClr val="172033"/>
                          </a:solidFill>
                          <a:latin typeface="Arial"/>
                          <a:ea typeface="Arial"/>
                          <a:cs typeface="Arial"/>
                        </a:rPr>
                        <a:t>717</a:t>
                      </a:r>
                    </a:p>
                  </a:txBody>
                  <a:tcPr marL="91440" marR="91440" marT="45720" marB="45720">
                    <a:lnR w="9525">
                      <a:solidFill>
                        <a:srgbClr val="DCE5EA"/>
                      </a:solidFill>
                      <a:prstDash val="solid"/>
                    </a:lnR>
                    <a:lnB w="9525">
                      <a:solidFill>
                        <a:srgbClr val="DCE5EA"/>
                      </a:solidFill>
                      <a:prstDash val="solid"/>
                    </a:lnB>
                    <a:solidFill>
                      <a:srgbClr val="FFFFFF"/>
                    </a:solidFill>
                  </a:tcPr>
                </a:tc>
                <a:tc>
                  <a:txBody>
                    <a:bodyPr/>
                    <a:lstStyle/>
                    <a:p>
                      <a:r>
                        <a:rPr sz="2025" b="0">
                          <a:solidFill>
                            <a:srgbClr val="172033"/>
                          </a:solidFill>
                          <a:latin typeface="Arial"/>
                          <a:ea typeface="Arial"/>
                          <a:cs typeface="Arial"/>
                        </a:rPr>
                        <a:t>703</a:t>
                      </a:r>
                    </a:p>
                  </a:txBody>
                  <a:tcPr marL="91440" marR="91440" marT="45720" marB="45720">
                    <a:lnR w="9525">
                      <a:solidFill>
                        <a:srgbClr val="DCE5EA"/>
                      </a:solidFill>
                      <a:prstDash val="solid"/>
                    </a:lnR>
                    <a:lnB w="9525">
                      <a:solidFill>
                        <a:srgbClr val="DCE5EA"/>
                      </a:solidFill>
                      <a:prstDash val="solid"/>
                    </a:lnB>
                    <a:solidFill>
                      <a:srgbClr val="FFFFFF"/>
                    </a:solidFill>
                  </a:tcPr>
                </a:tc>
                <a:tc>
                  <a:txBody>
                    <a:bodyPr/>
                    <a:lstStyle/>
                    <a:p>
                      <a:r>
                        <a:rPr sz="2025" b="0">
                          <a:solidFill>
                            <a:srgbClr val="172033"/>
                          </a:solidFill>
                          <a:latin typeface="Arial"/>
                          <a:ea typeface="Arial"/>
                          <a:cs typeface="Arial"/>
                        </a:rPr>
                        <a:t>1,420</a:t>
                      </a:r>
                    </a:p>
                  </a:txBody>
                  <a:tcPr marL="91440" marR="91440" marT="45720" marB="45720">
                    <a:lnR w="9525">
                      <a:solidFill>
                        <a:srgbClr val="DCE5EA"/>
                      </a:solidFill>
                      <a:prstDash val="solid"/>
                    </a:lnR>
                    <a:lnB w="9525">
                      <a:solidFill>
                        <a:srgbClr val="DCE5EA"/>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59FD791-AC50-4AEB-8C68-2E66A2658BC5}"/>
              </a:ext>
            </a:extLst>
          </p:cNvPr>
          <p:cNvSpPr>
            <a:spLocks xmlns:a="http://schemas.openxmlformats.org/drawingml/2006/main" noGrp="1"/>
          </p:cNvSpPr>
          <p:nvPr/>
        </p:nvSpPr>
        <p:spPr>
          <a:xfrm xmlns:a="http://schemas.openxmlformats.org/drawingml/2006/main">
            <a:off x="609600" y="45720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F766E"/>
                </a:solidFill>
                <a:latin typeface="Arial"/>
                <a:ea typeface="Arial"/>
                <a:cs typeface="Arial"/>
              </a:defRPr>
            </a:defPPr>
            <a:lvl1pPr>
              <a:defRPr sz="2175" b="1">
                <a:solidFill>
                  <a:srgbClr val="0F766E"/>
                </a:solidFill>
                <a:latin typeface="Arial"/>
                <a:ea typeface="Arial"/>
                <a:cs typeface="Arial"/>
              </a:defRPr>
            </a:lvl1pPr>
            <a:lvl2pPr>
              <a:defRPr sz="2175" b="1">
                <a:solidFill>
                  <a:srgbClr val="0F766E"/>
                </a:solidFill>
                <a:latin typeface="Arial"/>
                <a:ea typeface="Arial"/>
                <a:cs typeface="Arial"/>
              </a:defRPr>
            </a:lvl2pPr>
            <a:lvl3pPr>
              <a:defRPr sz="2175" b="1">
                <a:solidFill>
                  <a:srgbClr val="0F766E"/>
                </a:solidFill>
                <a:latin typeface="Arial"/>
                <a:ea typeface="Arial"/>
                <a:cs typeface="Arial"/>
              </a:defRPr>
            </a:lvl3pPr>
            <a:lvl4pPr>
              <a:defRPr sz="2175" b="1">
                <a:solidFill>
                  <a:srgbClr val="0F766E"/>
                </a:solidFill>
                <a:latin typeface="Arial"/>
                <a:ea typeface="Arial"/>
                <a:cs typeface="Arial"/>
              </a:defRPr>
            </a:lvl4pPr>
            <a:lvl5pPr>
              <a:defRPr sz="2175" b="1">
                <a:solidFill>
                  <a:srgbClr val="0F766E"/>
                </a:solidFill>
                <a:latin typeface="Arial"/>
                <a:ea typeface="Arial"/>
                <a:cs typeface="Arial"/>
              </a:defRPr>
            </a:lvl5pPr>
            <a:lvl6pPr>
              <a:defRPr sz="2175" b="1">
                <a:solidFill>
                  <a:srgbClr val="0F766E"/>
                </a:solidFill>
                <a:latin typeface="Arial"/>
                <a:ea typeface="Arial"/>
                <a:cs typeface="Arial"/>
              </a:defRPr>
            </a:lvl6pPr>
            <a:lvl7pPr>
              <a:defRPr sz="2175" b="1">
                <a:solidFill>
                  <a:srgbClr val="0F766E"/>
                </a:solidFill>
                <a:latin typeface="Arial"/>
                <a:ea typeface="Arial"/>
                <a:cs typeface="Arial"/>
              </a:defRPr>
            </a:lvl7pPr>
            <a:lvl8pPr>
              <a:defRPr sz="2175" b="1">
                <a:solidFill>
                  <a:srgbClr val="0F766E"/>
                </a:solidFill>
                <a:latin typeface="Arial"/>
                <a:ea typeface="Arial"/>
                <a:cs typeface="Arial"/>
              </a:defRPr>
            </a:lvl8pPr>
            <a:lvl9pPr>
              <a:defRPr sz="2175" b="1">
                <a:solidFill>
                  <a:srgbClr val="0F766E"/>
                </a:solidFill>
                <a:latin typeface="Arial"/>
                <a:ea typeface="Arial"/>
                <a:cs typeface="Arial"/>
              </a:defRPr>
            </a:lvl9pPr>
          </a:lstStyle>
          <a:p xmlns:a="http://schemas.openxmlformats.org/drawingml/2006/main">
            <a:pPr>
              <a:defRPr sz="2175" b="1">
                <a:solidFill>
                  <a:srgbClr val="0F766E"/>
                </a:solidFill>
                <a:latin typeface="Arial"/>
                <a:ea typeface="Arial"/>
                <a:cs typeface="Arial"/>
              </a:defRPr>
            </a:pPr>
            <a:r>
              <a:rPr sz="2175" b="1">
                <a:solidFill>
                  <a:srgbClr val="0F766E"/>
                </a:solidFill>
                <a:latin typeface="Arial"/>
                <a:ea typeface="Arial"/>
                <a:cs typeface="Arial"/>
              </a:rPr>
              <a:t>SVD median age: 22.5 years healthy vs 50.7 pathological.</a:t>
            </a:r>
          </a:p>
        </p:txBody>
      </p:sp>
      <p:sp>
        <p:nvSpPr>
          <p:cNvPr id="5" name="">
            <a:extLst xmlns:a="http://schemas.openxmlformats.org/drawingml/2006/main">
              <a:ext uri="{FF2B5EF4-FFF2-40B4-BE49-F238E27FC236}">
                <a16:creationId xmlns:a16="http://schemas.microsoft.com/office/drawing/2014/main" id="{69D5811C-F565-4C62-9E2C-CB4CB5234A6C}"/>
              </a:ext>
            </a:extLst>
          </p:cNvPr>
          <p:cNvSpPr>
            <a:spLocks xmlns:a="http://schemas.openxmlformats.org/drawingml/2006/main" noGrp="1"/>
          </p:cNvSpPr>
          <p:nvPr/>
        </p:nvSpPr>
        <p:spPr>
          <a:xfrm xmlns:a="http://schemas.openxmlformats.org/drawingml/2006/main">
            <a:off x="609600" y="5381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75569"/>
                </a:solidFill>
                <a:latin typeface="Arial"/>
                <a:ea typeface="Arial"/>
                <a:cs typeface="Arial"/>
              </a:defRPr>
            </a:defPPr>
            <a:lvl1pPr>
              <a:defRPr sz="1875" b="0">
                <a:solidFill>
                  <a:srgbClr val="475569"/>
                </a:solidFill>
                <a:latin typeface="Arial"/>
                <a:ea typeface="Arial"/>
                <a:cs typeface="Arial"/>
              </a:defRPr>
            </a:lvl1pPr>
            <a:lvl2pPr>
              <a:defRPr sz="1875" b="0">
                <a:solidFill>
                  <a:srgbClr val="475569"/>
                </a:solidFill>
                <a:latin typeface="Arial"/>
                <a:ea typeface="Arial"/>
                <a:cs typeface="Arial"/>
              </a:defRPr>
            </a:lvl2pPr>
            <a:lvl3pPr>
              <a:defRPr sz="1875" b="0">
                <a:solidFill>
                  <a:srgbClr val="475569"/>
                </a:solidFill>
                <a:latin typeface="Arial"/>
                <a:ea typeface="Arial"/>
                <a:cs typeface="Arial"/>
              </a:defRPr>
            </a:lvl3pPr>
            <a:lvl4pPr>
              <a:defRPr sz="1875" b="0">
                <a:solidFill>
                  <a:srgbClr val="475569"/>
                </a:solidFill>
                <a:latin typeface="Arial"/>
                <a:ea typeface="Arial"/>
                <a:cs typeface="Arial"/>
              </a:defRPr>
            </a:lvl4pPr>
            <a:lvl5pPr>
              <a:defRPr sz="1875" b="0">
                <a:solidFill>
                  <a:srgbClr val="475569"/>
                </a:solidFill>
                <a:latin typeface="Arial"/>
                <a:ea typeface="Arial"/>
                <a:cs typeface="Arial"/>
              </a:defRPr>
            </a:lvl5pPr>
            <a:lvl6pPr>
              <a:defRPr sz="1875" b="0">
                <a:solidFill>
                  <a:srgbClr val="475569"/>
                </a:solidFill>
                <a:latin typeface="Arial"/>
                <a:ea typeface="Arial"/>
                <a:cs typeface="Arial"/>
              </a:defRPr>
            </a:lvl6pPr>
            <a:lvl7pPr>
              <a:defRPr sz="1875" b="0">
                <a:solidFill>
                  <a:srgbClr val="475569"/>
                </a:solidFill>
                <a:latin typeface="Arial"/>
                <a:ea typeface="Arial"/>
                <a:cs typeface="Arial"/>
              </a:defRPr>
            </a:lvl7pPr>
            <a:lvl8pPr>
              <a:defRPr sz="1875" b="0">
                <a:solidFill>
                  <a:srgbClr val="475569"/>
                </a:solidFill>
                <a:latin typeface="Arial"/>
                <a:ea typeface="Arial"/>
                <a:cs typeface="Arial"/>
              </a:defRPr>
            </a:lvl8pPr>
            <a:lvl9pPr>
              <a:defRPr sz="1875" b="0">
                <a:solidFill>
                  <a:srgbClr val="475569"/>
                </a:solidFill>
                <a:latin typeface="Arial"/>
                <a:ea typeface="Arial"/>
                <a:cs typeface="Arial"/>
              </a:defRPr>
            </a:lvl9pPr>
          </a:lstStyle>
          <a:p xmlns:a="http://schemas.openxmlformats.org/drawingml/2006/main">
            <a:pPr>
              <a:defRPr sz="1875" b="0">
                <a:solidFill>
                  <a:srgbClr val="475569"/>
                </a:solidFill>
                <a:latin typeface="Arial"/>
                <a:ea typeface="Arial"/>
                <a:cs typeface="Arial"/>
              </a:defRPr>
            </a:pPr>
            <a:r>
              <a:rPr sz="1875" b="0">
                <a:solidFill>
                  <a:srgbClr val="475569"/>
                </a:solidFill>
                <a:latin typeface="Arial"/>
                <a:ea typeface="Arial"/>
                <a:cs typeface="Arial"/>
              </a:rPr>
              <a:t>All data are development. There is no new untouched external test.</a:t>
            </a:r>
          </a:p>
          <a:p xmlns:a="http://schemas.openxmlformats.org/drawingml/2006/main">
            <a:pPr>
              <a:defRPr sz="1875" b="0">
                <a:solidFill>
                  <a:srgbClr val="475569"/>
                </a:solidFill>
                <a:latin typeface="Arial"/>
                <a:ea typeface="Arial"/>
                <a:cs typeface="Arial"/>
              </a:defRPr>
            </a:pPr>
            <a:r>
              <a:rPr sz="1875" b="0">
                <a:solidFill>
                  <a:srgbClr val="475569"/>
                </a:solidFill>
                <a:latin typeface="Arial"/>
                <a:ea typeface="Arial"/>
                <a:cs typeface="Arial"/>
              </a:rPr>
              <a:t>Record counts do not establish independently verified clinical identities.</a:t>
            </a:r>
          </a:p>
        </p:txBody>
      </p:sp>
    </p:spTree>
    <p:extLst>
      <p:ext uri="{BB962C8B-B14F-4D97-AF65-F5344CB8AC3E}">
        <p14:creationId xmlns:p14="http://schemas.microsoft.com/office/powerpoint/2010/main" val="22338912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5A6ECBB-C31D-46B7-9F35-8E5055278DD4}"/>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033"/>
                </a:solidFill>
                <a:latin typeface="Arial"/>
                <a:ea typeface="Arial"/>
                <a:cs typeface="Arial"/>
              </a:defRPr>
            </a:defPPr>
            <a:lvl1pPr>
              <a:defRPr sz="3300" b="1">
                <a:solidFill>
                  <a:srgbClr val="172033"/>
                </a:solidFill>
                <a:latin typeface="Arial"/>
                <a:ea typeface="Arial"/>
                <a:cs typeface="Arial"/>
              </a:defRPr>
            </a:lvl1pPr>
            <a:lvl2pPr>
              <a:defRPr sz="3300" b="1">
                <a:solidFill>
                  <a:srgbClr val="172033"/>
                </a:solidFill>
                <a:latin typeface="Arial"/>
                <a:ea typeface="Arial"/>
                <a:cs typeface="Arial"/>
              </a:defRPr>
            </a:lvl2pPr>
            <a:lvl3pPr>
              <a:defRPr sz="3300" b="1">
                <a:solidFill>
                  <a:srgbClr val="172033"/>
                </a:solidFill>
                <a:latin typeface="Arial"/>
                <a:ea typeface="Arial"/>
                <a:cs typeface="Arial"/>
              </a:defRPr>
            </a:lvl3pPr>
            <a:lvl4pPr>
              <a:defRPr sz="3300" b="1">
                <a:solidFill>
                  <a:srgbClr val="172033"/>
                </a:solidFill>
                <a:latin typeface="Arial"/>
                <a:ea typeface="Arial"/>
                <a:cs typeface="Arial"/>
              </a:defRPr>
            </a:lvl4pPr>
            <a:lvl5pPr>
              <a:defRPr sz="3300" b="1">
                <a:solidFill>
                  <a:srgbClr val="172033"/>
                </a:solidFill>
                <a:latin typeface="Arial"/>
                <a:ea typeface="Arial"/>
                <a:cs typeface="Arial"/>
              </a:defRPr>
            </a:lvl5pPr>
            <a:lvl6pPr>
              <a:defRPr sz="3300" b="1">
                <a:solidFill>
                  <a:srgbClr val="172033"/>
                </a:solidFill>
                <a:latin typeface="Arial"/>
                <a:ea typeface="Arial"/>
                <a:cs typeface="Arial"/>
              </a:defRPr>
            </a:lvl6pPr>
            <a:lvl7pPr>
              <a:defRPr sz="3300" b="1">
                <a:solidFill>
                  <a:srgbClr val="172033"/>
                </a:solidFill>
                <a:latin typeface="Arial"/>
                <a:ea typeface="Arial"/>
                <a:cs typeface="Arial"/>
              </a:defRPr>
            </a:lvl7pPr>
            <a:lvl8pPr>
              <a:defRPr sz="3300" b="1">
                <a:solidFill>
                  <a:srgbClr val="172033"/>
                </a:solidFill>
                <a:latin typeface="Arial"/>
                <a:ea typeface="Arial"/>
                <a:cs typeface="Arial"/>
              </a:defRPr>
            </a:lvl8pPr>
            <a:lvl9pPr>
              <a:defRPr sz="3300" b="1">
                <a:solidFill>
                  <a:srgbClr val="172033"/>
                </a:solidFill>
                <a:latin typeface="Arial"/>
                <a:ea typeface="Arial"/>
                <a:cs typeface="Arial"/>
              </a:defRPr>
            </a:lvl9pPr>
          </a:lstStyle>
          <a:p xmlns:a="http://schemas.openxmlformats.org/drawingml/2006/main">
            <a:pPr>
              <a:defRPr sz="3300" b="1">
                <a:solidFill>
                  <a:srgbClr val="172033"/>
                </a:solidFill>
                <a:latin typeface="Arial"/>
                <a:ea typeface="Arial"/>
                <a:cs typeface="Arial"/>
              </a:defRPr>
            </a:pPr>
            <a:r>
              <a:rPr sz="3300" b="1">
                <a:solidFill>
                  <a:srgbClr val="172033"/>
                </a:solidFill>
                <a:latin typeface="Arial"/>
                <a:ea typeface="Arial"/>
                <a:cs typeface="Arial"/>
              </a:rPr>
              <a:t>Audio-to-prediction pipeline</a:t>
            </a:r>
          </a:p>
        </p:txBody>
      </p:sp>
      <p:sp>
        <p:nvSpPr>
          <p:cNvPr id="2" name="">
            <a:extLst xmlns:a="http://schemas.openxmlformats.org/drawingml/2006/main">
              <a:ext uri="{FF2B5EF4-FFF2-40B4-BE49-F238E27FC236}">
                <a16:creationId xmlns:a16="http://schemas.microsoft.com/office/drawing/2014/main" id="{112CB9E6-1EDD-4961-A5CD-2E8A6A1FC944}"/>
              </a:ext>
            </a:extLst>
          </p:cNvPr>
          <p:cNvSpPr>
            <a:spLocks xmlns:a="http://schemas.openxmlformats.org/drawingml/2006/main" noGrp="1"/>
          </p:cNvSpPr>
          <p:nvPr/>
        </p:nvSpPr>
        <p:spPr>
          <a:xfrm xmlns:a="http://schemas.openxmlformats.org/drawingml/2006/main">
            <a:off x="11239500" y="64008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75569"/>
                </a:solidFill>
                <a:latin typeface="Arial"/>
                <a:ea typeface="Arial"/>
                <a:cs typeface="Arial"/>
              </a:defRPr>
            </a:defPPr>
            <a:lvl1pPr>
              <a:defRPr sz="1350" b="0">
                <a:solidFill>
                  <a:srgbClr val="475569"/>
                </a:solidFill>
                <a:latin typeface="Arial"/>
                <a:ea typeface="Arial"/>
                <a:cs typeface="Arial"/>
              </a:defRPr>
            </a:lvl1pPr>
            <a:lvl2pPr>
              <a:defRPr sz="1350" b="0">
                <a:solidFill>
                  <a:srgbClr val="475569"/>
                </a:solidFill>
                <a:latin typeface="Arial"/>
                <a:ea typeface="Arial"/>
                <a:cs typeface="Arial"/>
              </a:defRPr>
            </a:lvl2pPr>
            <a:lvl3pPr>
              <a:defRPr sz="1350" b="0">
                <a:solidFill>
                  <a:srgbClr val="475569"/>
                </a:solidFill>
                <a:latin typeface="Arial"/>
                <a:ea typeface="Arial"/>
                <a:cs typeface="Arial"/>
              </a:defRPr>
            </a:lvl3pPr>
            <a:lvl4pPr>
              <a:defRPr sz="1350" b="0">
                <a:solidFill>
                  <a:srgbClr val="475569"/>
                </a:solidFill>
                <a:latin typeface="Arial"/>
                <a:ea typeface="Arial"/>
                <a:cs typeface="Arial"/>
              </a:defRPr>
            </a:lvl4pPr>
            <a:lvl5pPr>
              <a:defRPr sz="1350" b="0">
                <a:solidFill>
                  <a:srgbClr val="475569"/>
                </a:solidFill>
                <a:latin typeface="Arial"/>
                <a:ea typeface="Arial"/>
                <a:cs typeface="Arial"/>
              </a:defRPr>
            </a:lvl5pPr>
            <a:lvl6pPr>
              <a:defRPr sz="1350" b="0">
                <a:solidFill>
                  <a:srgbClr val="475569"/>
                </a:solidFill>
                <a:latin typeface="Arial"/>
                <a:ea typeface="Arial"/>
                <a:cs typeface="Arial"/>
              </a:defRPr>
            </a:lvl6pPr>
            <a:lvl7pPr>
              <a:defRPr sz="1350" b="0">
                <a:solidFill>
                  <a:srgbClr val="475569"/>
                </a:solidFill>
                <a:latin typeface="Arial"/>
                <a:ea typeface="Arial"/>
                <a:cs typeface="Arial"/>
              </a:defRPr>
            </a:lvl7pPr>
            <a:lvl8pPr>
              <a:defRPr sz="1350" b="0">
                <a:solidFill>
                  <a:srgbClr val="475569"/>
                </a:solidFill>
                <a:latin typeface="Arial"/>
                <a:ea typeface="Arial"/>
                <a:cs typeface="Arial"/>
              </a:defRPr>
            </a:lvl8pPr>
            <a:lvl9pPr>
              <a:defRPr sz="1350" b="0">
                <a:solidFill>
                  <a:srgbClr val="475569"/>
                </a:solidFill>
                <a:latin typeface="Arial"/>
                <a:ea typeface="Arial"/>
                <a:cs typeface="Arial"/>
              </a:defRPr>
            </a:lvl9pPr>
          </a:lstStyle>
          <a:p xmlns:a="http://schemas.openxmlformats.org/drawingml/2006/main">
            <a:pPr>
              <a:defRPr sz="1350" b="0">
                <a:solidFill>
                  <a:srgbClr val="475569"/>
                </a:solidFill>
                <a:latin typeface="Arial"/>
                <a:ea typeface="Arial"/>
                <a:cs typeface="Arial"/>
              </a:defRPr>
            </a:pPr>
            <a:r>
              <a:rPr sz="1350" b="0">
                <a:solidFill>
                  <a:srgbClr val="475569"/>
                </a:solidFill>
                <a:latin typeface="Arial"/>
                <a:ea typeface="Arial"/>
                <a:cs typeface="Arial"/>
              </a:rPr>
              <a:t>4</a:t>
            </a:r>
          </a:p>
        </p:txBody>
      </p:sp>
      <p:graphicFrame>
        <p:nvGraphicFramePr>
          <p:cNvPr id="3" name="">
            <a:extLst xmlns:a="http://schemas.openxmlformats.org/drawingml/2006/main">
              <a:ext uri="{FF2B5EF4-FFF2-40B4-BE49-F238E27FC236}">
                <a16:creationId xmlns:a16="http://schemas.microsoft.com/office/drawing/2014/main" id="{6CC55780-177C-4768-9BF1-F9D559CC3075}"/>
              </a:ext>
            </a:extLst>
          </p:cNvPr>
          <p:cNvGraphicFramePr/>
          <p:nvPr/>
        </p:nvGraphicFramePr>
        <p:xfrm>
          <a:off xmlns:a="http://schemas.openxmlformats.org/drawingml/2006/main" x="609600" y="1428750"/>
          <a:ext xmlns:a="http://schemas.openxmlformats.org/drawingml/2006/main" cx="10972800" cy="3619500"/>
        </p:xfrm>
        <a:graphic xmlns:a="http://schemas.openxmlformats.org/drawingml/2006/main">
          <a:graphicData uri="http://schemas.openxmlformats.org/drawingml/2006/table">
            <a:tbl>
              <a:tblPr/>
              <a:tblGrid>
                <a:gridCol w="2667000"/>
                <a:gridCol w="8305800"/>
              </a:tblGrid>
              <a:tr h="603250">
                <a:tc>
                  <a:txBody>
                    <a:bodyPr/>
                    <a:lstStyle/>
                    <a:p>
                      <a:r>
                        <a:rPr sz="1950" b="1">
                          <a:solidFill>
                            <a:srgbClr val="172033"/>
                          </a:solidFill>
                          <a:latin typeface="Arial"/>
                          <a:ea typeface="Arial"/>
                          <a:cs typeface="Arial"/>
                        </a:rPr>
                        <a:t>Stage</a:t>
                      </a:r>
                    </a:p>
                  </a:txBody>
                  <a:tcPr marL="91440" marR="91440" marT="45720" marB="45720">
                    <a:lnL w="9525">
                      <a:solidFill>
                        <a:srgbClr val="DCE5EA"/>
                      </a:solidFill>
                      <a:prstDash val="solid"/>
                    </a:lnL>
                    <a:lnR w="9525">
                      <a:solidFill>
                        <a:srgbClr val="DCE5EA"/>
                      </a:solidFill>
                      <a:prstDash val="solid"/>
                    </a:lnR>
                    <a:lnT w="9525">
                      <a:solidFill>
                        <a:srgbClr val="DCE5EA"/>
                      </a:solidFill>
                      <a:prstDash val="solid"/>
                    </a:lnT>
                    <a:lnB w="9525">
                      <a:solidFill>
                        <a:srgbClr val="DCE5EA"/>
                      </a:solidFill>
                      <a:prstDash val="solid"/>
                    </a:lnB>
                    <a:solidFill>
                      <a:srgbClr val="EAF5F2"/>
                    </a:solidFill>
                  </a:tcPr>
                </a:tc>
                <a:tc>
                  <a:txBody>
                    <a:bodyPr/>
                    <a:lstStyle/>
                    <a:p>
                      <a:r>
                        <a:rPr sz="1950" b="1">
                          <a:solidFill>
                            <a:srgbClr val="172033"/>
                          </a:solidFill>
                          <a:latin typeface="Arial"/>
                          <a:ea typeface="Arial"/>
                          <a:cs typeface="Arial"/>
                        </a:rPr>
                        <a:t>Operation</a:t>
                      </a:r>
                    </a:p>
                  </a:txBody>
                  <a:tcPr marL="91440" marR="91440" marT="45720" marB="45720">
                    <a:lnR w="9525">
                      <a:solidFill>
                        <a:srgbClr val="DCE5EA"/>
                      </a:solidFill>
                      <a:prstDash val="solid"/>
                    </a:lnR>
                    <a:lnT w="9525">
                      <a:solidFill>
                        <a:srgbClr val="DCE5EA"/>
                      </a:solidFill>
                      <a:prstDash val="solid"/>
                    </a:lnT>
                    <a:lnB w="9525">
                      <a:solidFill>
                        <a:srgbClr val="DCE5EA"/>
                      </a:solidFill>
                      <a:prstDash val="solid"/>
                    </a:lnB>
                    <a:solidFill>
                      <a:srgbClr val="EAF5F2"/>
                    </a:solidFill>
                  </a:tcPr>
                </a:tc>
              </a:tr>
              <a:tr h="603250">
                <a:tc>
                  <a:txBody>
                    <a:bodyPr/>
                    <a:lstStyle/>
                    <a:p>
                      <a:r>
                        <a:rPr sz="1950" b="0">
                          <a:solidFill>
                            <a:srgbClr val="172033"/>
                          </a:solidFill>
                          <a:latin typeface="Arial"/>
                          <a:ea typeface="Arial"/>
                          <a:cs typeface="Arial"/>
                        </a:rPr>
                        <a:t>Audio checks</a:t>
                      </a:r>
                    </a:p>
                  </a:txBody>
                  <a:tcPr marL="91440" marR="91440" marT="45720" marB="45720">
                    <a:lnL w="9525">
                      <a:solidFill>
                        <a:srgbClr val="DCE5EA"/>
                      </a:solidFill>
                      <a:prstDash val="solid"/>
                    </a:lnL>
                    <a:lnR w="9525">
                      <a:solidFill>
                        <a:srgbClr val="DCE5EA"/>
                      </a:solidFill>
                      <a:prstDash val="solid"/>
                    </a:lnR>
                    <a:lnB w="9525">
                      <a:solidFill>
                        <a:srgbClr val="DCE5EA"/>
                      </a:solidFill>
                      <a:prstDash val="solid"/>
                    </a:lnB>
                    <a:solidFill>
                      <a:srgbClr val="FFFFFF"/>
                    </a:solidFill>
                  </a:tcPr>
                </a:tc>
                <a:tc>
                  <a:txBody>
                    <a:bodyPr/>
                    <a:lstStyle/>
                    <a:p>
                      <a:r>
                        <a:rPr sz="1950" b="0">
                          <a:solidFill>
                            <a:srgbClr val="172033"/>
                          </a:solidFill>
                          <a:latin typeface="Arial"/>
                          <a:ea typeface="Arial"/>
                          <a:cs typeface="Arial"/>
                        </a:rPr>
                        <a:t>Type, duration, silence; central crop up to 5 seconds</a:t>
                      </a:r>
                    </a:p>
                  </a:txBody>
                  <a:tcPr marL="91440" marR="91440" marT="45720" marB="45720">
                    <a:lnR w="9525">
                      <a:solidFill>
                        <a:srgbClr val="DCE5EA"/>
                      </a:solidFill>
                      <a:prstDash val="solid"/>
                    </a:lnR>
                    <a:lnB w="9525">
                      <a:solidFill>
                        <a:srgbClr val="DCE5EA"/>
                      </a:solidFill>
                      <a:prstDash val="solid"/>
                    </a:lnB>
                    <a:solidFill>
                      <a:srgbClr val="FFFFFF"/>
                    </a:solidFill>
                  </a:tcPr>
                </a:tc>
              </a:tr>
              <a:tr h="603250">
                <a:tc>
                  <a:txBody>
                    <a:bodyPr/>
                    <a:lstStyle/>
                    <a:p>
                      <a:r>
                        <a:rPr sz="1950" b="0">
                          <a:solidFill>
                            <a:srgbClr val="172033"/>
                          </a:solidFill>
                          <a:latin typeface="Arial"/>
                          <a:ea typeface="Arial"/>
                          <a:cs typeface="Arial"/>
                        </a:rPr>
                        <a:t>Features</a:t>
                      </a:r>
                    </a:p>
                  </a:txBody>
                  <a:tcPr marL="91440" marR="91440" marT="45720" marB="45720">
                    <a:lnL w="9525">
                      <a:solidFill>
                        <a:srgbClr val="DCE5EA"/>
                      </a:solidFill>
                      <a:prstDash val="solid"/>
                    </a:lnL>
                    <a:lnR w="9525">
                      <a:solidFill>
                        <a:srgbClr val="DCE5EA"/>
                      </a:solidFill>
                      <a:prstDash val="solid"/>
                    </a:lnR>
                    <a:lnB w="9525">
                      <a:solidFill>
                        <a:srgbClr val="DCE5EA"/>
                      </a:solidFill>
                      <a:prstDash val="solid"/>
                    </a:lnB>
                    <a:solidFill>
                      <a:srgbClr val="FFFFFF"/>
                    </a:solidFill>
                  </a:tcPr>
                </a:tc>
                <a:tc>
                  <a:txBody>
                    <a:bodyPr/>
                    <a:lstStyle/>
                    <a:p>
                      <a:r>
                        <a:rPr sz="1950" b="0">
                          <a:solidFill>
                            <a:srgbClr val="172033"/>
                          </a:solidFill>
                          <a:latin typeface="Arial"/>
                          <a:ea typeface="Arial"/>
                          <a:cs typeface="Arial"/>
                        </a:rPr>
                        <a:t>97 acoustic measures; 40 × 128 log-Mel input for CNN</a:t>
                      </a:r>
                    </a:p>
                  </a:txBody>
                  <a:tcPr marL="91440" marR="91440" marT="45720" marB="45720">
                    <a:lnR w="9525">
                      <a:solidFill>
                        <a:srgbClr val="DCE5EA"/>
                      </a:solidFill>
                      <a:prstDash val="solid"/>
                    </a:lnR>
                    <a:lnB w="9525">
                      <a:solidFill>
                        <a:srgbClr val="DCE5EA"/>
                      </a:solidFill>
                      <a:prstDash val="solid"/>
                    </a:lnB>
                    <a:solidFill>
                      <a:srgbClr val="FFFFFF"/>
                    </a:solidFill>
                  </a:tcPr>
                </a:tc>
              </a:tr>
              <a:tr h="603250">
                <a:tc>
                  <a:txBody>
                    <a:bodyPr/>
                    <a:lstStyle/>
                    <a:p>
                      <a:r>
                        <a:rPr sz="1950" b="0">
                          <a:solidFill>
                            <a:srgbClr val="172033"/>
                          </a:solidFill>
                          <a:latin typeface="Arial"/>
                          <a:ea typeface="Arial"/>
                          <a:cs typeface="Arial"/>
                        </a:rPr>
                        <a:t>Preprocessing</a:t>
                      </a:r>
                    </a:p>
                  </a:txBody>
                  <a:tcPr marL="91440" marR="91440" marT="45720" marB="45720">
                    <a:lnL w="9525">
                      <a:solidFill>
                        <a:srgbClr val="DCE5EA"/>
                      </a:solidFill>
                      <a:prstDash val="solid"/>
                    </a:lnL>
                    <a:lnR w="9525">
                      <a:solidFill>
                        <a:srgbClr val="DCE5EA"/>
                      </a:solidFill>
                      <a:prstDash val="solid"/>
                    </a:lnR>
                    <a:lnB w="9525">
                      <a:solidFill>
                        <a:srgbClr val="DCE5EA"/>
                      </a:solidFill>
                      <a:prstDash val="solid"/>
                    </a:lnB>
                    <a:solidFill>
                      <a:srgbClr val="FFFFFF"/>
                    </a:solidFill>
                  </a:tcPr>
                </a:tc>
                <a:tc>
                  <a:txBody>
                    <a:bodyPr/>
                    <a:lstStyle/>
                    <a:p>
                      <a:r>
                        <a:rPr sz="1950" b="0">
                          <a:solidFill>
                            <a:srgbClr val="172033"/>
                          </a:solidFill>
                          <a:latin typeface="Arial"/>
                          <a:ea typeface="Arial"/>
                          <a:cs typeface="Arial"/>
                        </a:rPr>
                        <a:t>Saved training-only imputer, scaler and PCA/selection</a:t>
                      </a:r>
                    </a:p>
                  </a:txBody>
                  <a:tcPr marL="91440" marR="91440" marT="45720" marB="45720">
                    <a:lnR w="9525">
                      <a:solidFill>
                        <a:srgbClr val="DCE5EA"/>
                      </a:solidFill>
                      <a:prstDash val="solid"/>
                    </a:lnR>
                    <a:lnB w="9525">
                      <a:solidFill>
                        <a:srgbClr val="DCE5EA"/>
                      </a:solidFill>
                      <a:prstDash val="solid"/>
                    </a:lnB>
                    <a:solidFill>
                      <a:srgbClr val="FFFFFF"/>
                    </a:solidFill>
                  </a:tcPr>
                </a:tc>
              </a:tr>
              <a:tr h="603250">
                <a:tc>
                  <a:txBody>
                    <a:bodyPr/>
                    <a:lstStyle/>
                    <a:p>
                      <a:r>
                        <a:rPr sz="1950" b="0">
                          <a:solidFill>
                            <a:srgbClr val="172033"/>
                          </a:solidFill>
                          <a:latin typeface="Arial"/>
                          <a:ea typeface="Arial"/>
                          <a:cs typeface="Arial"/>
                        </a:rPr>
                        <a:t>Models</a:t>
                      </a:r>
                    </a:p>
                  </a:txBody>
                  <a:tcPr marL="91440" marR="91440" marT="45720" marB="45720">
                    <a:lnL w="9525">
                      <a:solidFill>
                        <a:srgbClr val="DCE5EA"/>
                      </a:solidFill>
                      <a:prstDash val="solid"/>
                    </a:lnL>
                    <a:lnR w="9525">
                      <a:solidFill>
                        <a:srgbClr val="DCE5EA"/>
                      </a:solidFill>
                      <a:prstDash val="solid"/>
                    </a:lnR>
                    <a:lnB w="9525">
                      <a:solidFill>
                        <a:srgbClr val="DCE5EA"/>
                      </a:solidFill>
                      <a:prstDash val="solid"/>
                    </a:lnB>
                    <a:solidFill>
                      <a:srgbClr val="FFFFFF"/>
                    </a:solidFill>
                  </a:tcPr>
                </a:tc>
                <a:tc>
                  <a:txBody>
                    <a:bodyPr/>
                    <a:lstStyle/>
                    <a:p>
                      <a:r>
                        <a:rPr sz="1950" b="0">
                          <a:solidFill>
                            <a:srgbClr val="172033"/>
                          </a:solidFill>
                          <a:latin typeface="Arial"/>
                          <a:ea typeface="Arial"/>
                          <a:cs typeface="Arial"/>
                        </a:rPr>
                        <a:t>GMM / MLP / CNN; optional 50/50 ensemble</a:t>
                      </a:r>
                    </a:p>
                  </a:txBody>
                  <a:tcPr marL="91440" marR="91440" marT="45720" marB="45720">
                    <a:lnR w="9525">
                      <a:solidFill>
                        <a:srgbClr val="DCE5EA"/>
                      </a:solidFill>
                      <a:prstDash val="solid"/>
                    </a:lnR>
                    <a:lnB w="9525">
                      <a:solidFill>
                        <a:srgbClr val="DCE5EA"/>
                      </a:solidFill>
                      <a:prstDash val="solid"/>
                    </a:lnB>
                    <a:solidFill>
                      <a:srgbClr val="FFFFFF"/>
                    </a:solidFill>
                  </a:tcPr>
                </a:tc>
              </a:tr>
              <a:tr h="603250">
                <a:tc>
                  <a:txBody>
                    <a:bodyPr/>
                    <a:lstStyle/>
                    <a:p>
                      <a:r>
                        <a:rPr sz="1950" b="0">
                          <a:solidFill>
                            <a:srgbClr val="172033"/>
                          </a:solidFill>
                          <a:latin typeface="Arial"/>
                          <a:ea typeface="Arial"/>
                          <a:cs typeface="Arial"/>
                        </a:rPr>
                        <a:t>Output</a:t>
                      </a:r>
                    </a:p>
                  </a:txBody>
                  <a:tcPr marL="91440" marR="91440" marT="45720" marB="45720">
                    <a:lnL w="9525">
                      <a:solidFill>
                        <a:srgbClr val="DCE5EA"/>
                      </a:solidFill>
                      <a:prstDash val="solid"/>
                    </a:lnL>
                    <a:lnR w="9525">
                      <a:solidFill>
                        <a:srgbClr val="DCE5EA"/>
                      </a:solidFill>
                      <a:prstDash val="solid"/>
                    </a:lnR>
                    <a:lnB w="9525">
                      <a:solidFill>
                        <a:srgbClr val="DCE5EA"/>
                      </a:solidFill>
                      <a:prstDash val="solid"/>
                    </a:lnB>
                    <a:solidFill>
                      <a:srgbClr val="FFFFFF"/>
                    </a:solidFill>
                  </a:tcPr>
                </a:tc>
                <a:tc>
                  <a:txBody>
                    <a:bodyPr/>
                    <a:lstStyle/>
                    <a:p>
                      <a:r>
                        <a:rPr sz="1950" b="0">
                          <a:solidFill>
                            <a:srgbClr val="172033"/>
                          </a:solidFill>
                          <a:latin typeface="Arial"/>
                          <a:ea typeface="Arial"/>
                          <a:cs typeface="Arial"/>
                        </a:rPr>
                        <a:t>Binary score, uncertainty and exploratory subtype ranking</a:t>
                      </a:r>
                    </a:p>
                  </a:txBody>
                  <a:tcPr marL="91440" marR="91440" marT="45720" marB="45720">
                    <a:lnR w="9525">
                      <a:solidFill>
                        <a:srgbClr val="DCE5EA"/>
                      </a:solidFill>
                      <a:prstDash val="solid"/>
                    </a:lnR>
                    <a:lnB w="9525">
                      <a:solidFill>
                        <a:srgbClr val="DCE5EA"/>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623A5E8-A245-4569-9904-5C6562BF8437}"/>
              </a:ext>
            </a:extLst>
          </p:cNvPr>
          <p:cNvSpPr>
            <a:spLocks xmlns:a="http://schemas.openxmlformats.org/drawingml/2006/main" noGrp="1"/>
          </p:cNvSpPr>
          <p:nvPr/>
        </p:nvSpPr>
        <p:spPr>
          <a:xfrm xmlns:a="http://schemas.openxmlformats.org/drawingml/2006/main">
            <a:off x="609600" y="5572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F766E"/>
                </a:solidFill>
                <a:latin typeface="Arial"/>
                <a:ea typeface="Arial"/>
                <a:cs typeface="Arial"/>
              </a:defRPr>
            </a:defPPr>
            <a:lvl1pPr>
              <a:defRPr sz="2175" b="1">
                <a:solidFill>
                  <a:srgbClr val="0F766E"/>
                </a:solidFill>
                <a:latin typeface="Arial"/>
                <a:ea typeface="Arial"/>
                <a:cs typeface="Arial"/>
              </a:defRPr>
            </a:lvl1pPr>
            <a:lvl2pPr>
              <a:defRPr sz="2175" b="1">
                <a:solidFill>
                  <a:srgbClr val="0F766E"/>
                </a:solidFill>
                <a:latin typeface="Arial"/>
                <a:ea typeface="Arial"/>
                <a:cs typeface="Arial"/>
              </a:defRPr>
            </a:lvl2pPr>
            <a:lvl3pPr>
              <a:defRPr sz="2175" b="1">
                <a:solidFill>
                  <a:srgbClr val="0F766E"/>
                </a:solidFill>
                <a:latin typeface="Arial"/>
                <a:ea typeface="Arial"/>
                <a:cs typeface="Arial"/>
              </a:defRPr>
            </a:lvl3pPr>
            <a:lvl4pPr>
              <a:defRPr sz="2175" b="1">
                <a:solidFill>
                  <a:srgbClr val="0F766E"/>
                </a:solidFill>
                <a:latin typeface="Arial"/>
                <a:ea typeface="Arial"/>
                <a:cs typeface="Arial"/>
              </a:defRPr>
            </a:lvl4pPr>
            <a:lvl5pPr>
              <a:defRPr sz="2175" b="1">
                <a:solidFill>
                  <a:srgbClr val="0F766E"/>
                </a:solidFill>
                <a:latin typeface="Arial"/>
                <a:ea typeface="Arial"/>
                <a:cs typeface="Arial"/>
              </a:defRPr>
            </a:lvl5pPr>
            <a:lvl6pPr>
              <a:defRPr sz="2175" b="1">
                <a:solidFill>
                  <a:srgbClr val="0F766E"/>
                </a:solidFill>
                <a:latin typeface="Arial"/>
                <a:ea typeface="Arial"/>
                <a:cs typeface="Arial"/>
              </a:defRPr>
            </a:lvl6pPr>
            <a:lvl7pPr>
              <a:defRPr sz="2175" b="1">
                <a:solidFill>
                  <a:srgbClr val="0F766E"/>
                </a:solidFill>
                <a:latin typeface="Arial"/>
                <a:ea typeface="Arial"/>
                <a:cs typeface="Arial"/>
              </a:defRPr>
            </a:lvl7pPr>
            <a:lvl8pPr>
              <a:defRPr sz="2175" b="1">
                <a:solidFill>
                  <a:srgbClr val="0F766E"/>
                </a:solidFill>
                <a:latin typeface="Arial"/>
                <a:ea typeface="Arial"/>
                <a:cs typeface="Arial"/>
              </a:defRPr>
            </a:lvl8pPr>
            <a:lvl9pPr>
              <a:defRPr sz="2175" b="1">
                <a:solidFill>
                  <a:srgbClr val="0F766E"/>
                </a:solidFill>
                <a:latin typeface="Arial"/>
                <a:ea typeface="Arial"/>
                <a:cs typeface="Arial"/>
              </a:defRPr>
            </a:lvl9pPr>
          </a:lstStyle>
          <a:p xmlns:a="http://schemas.openxmlformats.org/drawingml/2006/main">
            <a:pPr>
              <a:defRPr sz="2175" b="1">
                <a:solidFill>
                  <a:srgbClr val="0F766E"/>
                </a:solidFill>
                <a:latin typeface="Arial"/>
                <a:ea typeface="Arial"/>
                <a:cs typeface="Arial"/>
              </a:defRPr>
            </a:pPr>
            <a:r>
              <a:rPr sz="2175" b="1">
                <a:solidFill>
                  <a:srgbClr val="0F766E"/>
                </a:solidFill>
                <a:latin typeface="Arial"/>
                <a:ea typeface="Arial"/>
                <a:cs typeface="Arial"/>
              </a:rPr>
              <a:t>Shared feature specifications prevent training–website mismatch.</a:t>
            </a:r>
          </a:p>
        </p:txBody>
      </p:sp>
    </p:spTree>
    <p:extLst>
      <p:ext uri="{BB962C8B-B14F-4D97-AF65-F5344CB8AC3E}">
        <p14:creationId xmlns:p14="http://schemas.microsoft.com/office/powerpoint/2010/main" val="11330275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DD54C86-F5E7-4D67-9395-164E0548178A}"/>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033"/>
                </a:solidFill>
                <a:latin typeface="Arial"/>
                <a:ea typeface="Arial"/>
                <a:cs typeface="Arial"/>
              </a:defRPr>
            </a:defPPr>
            <a:lvl1pPr>
              <a:defRPr sz="3300" b="1">
                <a:solidFill>
                  <a:srgbClr val="172033"/>
                </a:solidFill>
                <a:latin typeface="Arial"/>
                <a:ea typeface="Arial"/>
                <a:cs typeface="Arial"/>
              </a:defRPr>
            </a:lvl1pPr>
            <a:lvl2pPr>
              <a:defRPr sz="3300" b="1">
                <a:solidFill>
                  <a:srgbClr val="172033"/>
                </a:solidFill>
                <a:latin typeface="Arial"/>
                <a:ea typeface="Arial"/>
                <a:cs typeface="Arial"/>
              </a:defRPr>
            </a:lvl2pPr>
            <a:lvl3pPr>
              <a:defRPr sz="3300" b="1">
                <a:solidFill>
                  <a:srgbClr val="172033"/>
                </a:solidFill>
                <a:latin typeface="Arial"/>
                <a:ea typeface="Arial"/>
                <a:cs typeface="Arial"/>
              </a:defRPr>
            </a:lvl3pPr>
            <a:lvl4pPr>
              <a:defRPr sz="3300" b="1">
                <a:solidFill>
                  <a:srgbClr val="172033"/>
                </a:solidFill>
                <a:latin typeface="Arial"/>
                <a:ea typeface="Arial"/>
                <a:cs typeface="Arial"/>
              </a:defRPr>
            </a:lvl4pPr>
            <a:lvl5pPr>
              <a:defRPr sz="3300" b="1">
                <a:solidFill>
                  <a:srgbClr val="172033"/>
                </a:solidFill>
                <a:latin typeface="Arial"/>
                <a:ea typeface="Arial"/>
                <a:cs typeface="Arial"/>
              </a:defRPr>
            </a:lvl5pPr>
            <a:lvl6pPr>
              <a:defRPr sz="3300" b="1">
                <a:solidFill>
                  <a:srgbClr val="172033"/>
                </a:solidFill>
                <a:latin typeface="Arial"/>
                <a:ea typeface="Arial"/>
                <a:cs typeface="Arial"/>
              </a:defRPr>
            </a:lvl6pPr>
            <a:lvl7pPr>
              <a:defRPr sz="3300" b="1">
                <a:solidFill>
                  <a:srgbClr val="172033"/>
                </a:solidFill>
                <a:latin typeface="Arial"/>
                <a:ea typeface="Arial"/>
                <a:cs typeface="Arial"/>
              </a:defRPr>
            </a:lvl7pPr>
            <a:lvl8pPr>
              <a:defRPr sz="3300" b="1">
                <a:solidFill>
                  <a:srgbClr val="172033"/>
                </a:solidFill>
                <a:latin typeface="Arial"/>
                <a:ea typeface="Arial"/>
                <a:cs typeface="Arial"/>
              </a:defRPr>
            </a:lvl8pPr>
            <a:lvl9pPr>
              <a:defRPr sz="3300" b="1">
                <a:solidFill>
                  <a:srgbClr val="172033"/>
                </a:solidFill>
                <a:latin typeface="Arial"/>
                <a:ea typeface="Arial"/>
                <a:cs typeface="Arial"/>
              </a:defRPr>
            </a:lvl9pPr>
          </a:lstStyle>
          <a:p xmlns:a="http://schemas.openxmlformats.org/drawingml/2006/main">
            <a:pPr>
              <a:defRPr sz="3300" b="1">
                <a:solidFill>
                  <a:srgbClr val="172033"/>
                </a:solidFill>
                <a:latin typeface="Arial"/>
                <a:ea typeface="Arial"/>
                <a:cs typeface="Arial"/>
              </a:defRPr>
            </a:pPr>
            <a:r>
              <a:rPr sz="3300" b="1">
                <a:solidFill>
                  <a:srgbClr val="172033"/>
                </a:solidFill>
                <a:latin typeface="Arial"/>
                <a:ea typeface="Arial"/>
                <a:cs typeface="Arial"/>
              </a:rPr>
              <a:t>Model selection and leakage controls</a:t>
            </a:r>
          </a:p>
        </p:txBody>
      </p:sp>
      <p:sp>
        <p:nvSpPr>
          <p:cNvPr id="2" name="">
            <a:extLst xmlns:a="http://schemas.openxmlformats.org/drawingml/2006/main">
              <a:ext uri="{FF2B5EF4-FFF2-40B4-BE49-F238E27FC236}">
                <a16:creationId xmlns:a16="http://schemas.microsoft.com/office/drawing/2014/main" id="{DB5BC178-30AE-4711-A48B-9B2967B59350}"/>
              </a:ext>
            </a:extLst>
          </p:cNvPr>
          <p:cNvSpPr>
            <a:spLocks xmlns:a="http://schemas.openxmlformats.org/drawingml/2006/main" noGrp="1"/>
          </p:cNvSpPr>
          <p:nvPr/>
        </p:nvSpPr>
        <p:spPr>
          <a:xfrm xmlns:a="http://schemas.openxmlformats.org/drawingml/2006/main">
            <a:off x="11239500" y="64008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75569"/>
                </a:solidFill>
                <a:latin typeface="Arial"/>
                <a:ea typeface="Arial"/>
                <a:cs typeface="Arial"/>
              </a:defRPr>
            </a:defPPr>
            <a:lvl1pPr>
              <a:defRPr sz="1350" b="0">
                <a:solidFill>
                  <a:srgbClr val="475569"/>
                </a:solidFill>
                <a:latin typeface="Arial"/>
                <a:ea typeface="Arial"/>
                <a:cs typeface="Arial"/>
              </a:defRPr>
            </a:lvl1pPr>
            <a:lvl2pPr>
              <a:defRPr sz="1350" b="0">
                <a:solidFill>
                  <a:srgbClr val="475569"/>
                </a:solidFill>
                <a:latin typeface="Arial"/>
                <a:ea typeface="Arial"/>
                <a:cs typeface="Arial"/>
              </a:defRPr>
            </a:lvl2pPr>
            <a:lvl3pPr>
              <a:defRPr sz="1350" b="0">
                <a:solidFill>
                  <a:srgbClr val="475569"/>
                </a:solidFill>
                <a:latin typeface="Arial"/>
                <a:ea typeface="Arial"/>
                <a:cs typeface="Arial"/>
              </a:defRPr>
            </a:lvl3pPr>
            <a:lvl4pPr>
              <a:defRPr sz="1350" b="0">
                <a:solidFill>
                  <a:srgbClr val="475569"/>
                </a:solidFill>
                <a:latin typeface="Arial"/>
                <a:ea typeface="Arial"/>
                <a:cs typeface="Arial"/>
              </a:defRPr>
            </a:lvl4pPr>
            <a:lvl5pPr>
              <a:defRPr sz="1350" b="0">
                <a:solidFill>
                  <a:srgbClr val="475569"/>
                </a:solidFill>
                <a:latin typeface="Arial"/>
                <a:ea typeface="Arial"/>
                <a:cs typeface="Arial"/>
              </a:defRPr>
            </a:lvl5pPr>
            <a:lvl6pPr>
              <a:defRPr sz="1350" b="0">
                <a:solidFill>
                  <a:srgbClr val="475569"/>
                </a:solidFill>
                <a:latin typeface="Arial"/>
                <a:ea typeface="Arial"/>
                <a:cs typeface="Arial"/>
              </a:defRPr>
            </a:lvl6pPr>
            <a:lvl7pPr>
              <a:defRPr sz="1350" b="0">
                <a:solidFill>
                  <a:srgbClr val="475569"/>
                </a:solidFill>
                <a:latin typeface="Arial"/>
                <a:ea typeface="Arial"/>
                <a:cs typeface="Arial"/>
              </a:defRPr>
            </a:lvl7pPr>
            <a:lvl8pPr>
              <a:defRPr sz="1350" b="0">
                <a:solidFill>
                  <a:srgbClr val="475569"/>
                </a:solidFill>
                <a:latin typeface="Arial"/>
                <a:ea typeface="Arial"/>
                <a:cs typeface="Arial"/>
              </a:defRPr>
            </a:lvl8pPr>
            <a:lvl9pPr>
              <a:defRPr sz="1350" b="0">
                <a:solidFill>
                  <a:srgbClr val="475569"/>
                </a:solidFill>
                <a:latin typeface="Arial"/>
                <a:ea typeface="Arial"/>
                <a:cs typeface="Arial"/>
              </a:defRPr>
            </a:lvl9pPr>
          </a:lstStyle>
          <a:p xmlns:a="http://schemas.openxmlformats.org/drawingml/2006/main">
            <a:pPr>
              <a:defRPr sz="1350" b="0">
                <a:solidFill>
                  <a:srgbClr val="475569"/>
                </a:solidFill>
                <a:latin typeface="Arial"/>
                <a:ea typeface="Arial"/>
                <a:cs typeface="Arial"/>
              </a:defRPr>
            </a:pPr>
            <a:r>
              <a:rPr sz="1350" b="0">
                <a:solidFill>
                  <a:srgbClr val="475569"/>
                </a:solidFill>
                <a:latin typeface="Arial"/>
                <a:ea typeface="Arial"/>
                <a:cs typeface="Arial"/>
              </a:rPr>
              <a:t>5</a:t>
            </a:r>
          </a:p>
        </p:txBody>
      </p:sp>
      <p:sp>
        <p:nvSpPr>
          <p:cNvPr id="3" name="">
            <a:extLst xmlns:a="http://schemas.openxmlformats.org/drawingml/2006/main">
              <a:ext uri="{FF2B5EF4-FFF2-40B4-BE49-F238E27FC236}">
                <a16:creationId xmlns:a16="http://schemas.microsoft.com/office/drawing/2014/main" id="{6D03DA3B-D697-4B0A-964A-6D88A5BDD8C1}"/>
              </a:ext>
            </a:extLst>
          </p:cNvPr>
          <p:cNvSpPr>
            <a:spLocks xmlns:a="http://schemas.openxmlformats.org/drawingml/2006/main" noGrp="1"/>
          </p:cNvSpPr>
          <p:nvPr/>
        </p:nvSpPr>
        <p:spPr>
          <a:xfrm xmlns:a="http://schemas.openxmlformats.org/drawingml/2006/main">
            <a:off x="609600" y="14763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F766E"/>
                </a:solidFill>
                <a:latin typeface="Arial"/>
                <a:ea typeface="Arial"/>
                <a:cs typeface="Arial"/>
              </a:defRPr>
            </a:defPPr>
            <a:lvl1pPr>
              <a:defRPr sz="2550" b="1">
                <a:solidFill>
                  <a:srgbClr val="0F766E"/>
                </a:solidFill>
                <a:latin typeface="Arial"/>
                <a:ea typeface="Arial"/>
                <a:cs typeface="Arial"/>
              </a:defRPr>
            </a:lvl1pPr>
            <a:lvl2pPr>
              <a:defRPr sz="2550" b="1">
                <a:solidFill>
                  <a:srgbClr val="0F766E"/>
                </a:solidFill>
                <a:latin typeface="Arial"/>
                <a:ea typeface="Arial"/>
                <a:cs typeface="Arial"/>
              </a:defRPr>
            </a:lvl2pPr>
            <a:lvl3pPr>
              <a:defRPr sz="2550" b="1">
                <a:solidFill>
                  <a:srgbClr val="0F766E"/>
                </a:solidFill>
                <a:latin typeface="Arial"/>
                <a:ea typeface="Arial"/>
                <a:cs typeface="Arial"/>
              </a:defRPr>
            </a:lvl3pPr>
            <a:lvl4pPr>
              <a:defRPr sz="2550" b="1">
                <a:solidFill>
                  <a:srgbClr val="0F766E"/>
                </a:solidFill>
                <a:latin typeface="Arial"/>
                <a:ea typeface="Arial"/>
                <a:cs typeface="Arial"/>
              </a:defRPr>
            </a:lvl4pPr>
            <a:lvl5pPr>
              <a:defRPr sz="2550" b="1">
                <a:solidFill>
                  <a:srgbClr val="0F766E"/>
                </a:solidFill>
                <a:latin typeface="Arial"/>
                <a:ea typeface="Arial"/>
                <a:cs typeface="Arial"/>
              </a:defRPr>
            </a:lvl5pPr>
            <a:lvl6pPr>
              <a:defRPr sz="2550" b="1">
                <a:solidFill>
                  <a:srgbClr val="0F766E"/>
                </a:solidFill>
                <a:latin typeface="Arial"/>
                <a:ea typeface="Arial"/>
                <a:cs typeface="Arial"/>
              </a:defRPr>
            </a:lvl6pPr>
            <a:lvl7pPr>
              <a:defRPr sz="2550" b="1">
                <a:solidFill>
                  <a:srgbClr val="0F766E"/>
                </a:solidFill>
                <a:latin typeface="Arial"/>
                <a:ea typeface="Arial"/>
                <a:cs typeface="Arial"/>
              </a:defRPr>
            </a:lvl7pPr>
            <a:lvl8pPr>
              <a:defRPr sz="2550" b="1">
                <a:solidFill>
                  <a:srgbClr val="0F766E"/>
                </a:solidFill>
                <a:latin typeface="Arial"/>
                <a:ea typeface="Arial"/>
                <a:cs typeface="Arial"/>
              </a:defRPr>
            </a:lvl8pPr>
            <a:lvl9pPr>
              <a:defRPr sz="2550" b="1">
                <a:solidFill>
                  <a:srgbClr val="0F766E"/>
                </a:solidFill>
                <a:latin typeface="Arial"/>
                <a:ea typeface="Arial"/>
                <a:cs typeface="Arial"/>
              </a:defRPr>
            </a:lvl9pPr>
          </a:lstStyle>
          <a:p xmlns:a="http://schemas.openxmlformats.org/drawingml/2006/main">
            <a:pPr>
              <a:defRPr sz="2550" b="1">
                <a:solidFill>
                  <a:srgbClr val="0F766E"/>
                </a:solidFill>
                <a:latin typeface="Arial"/>
                <a:ea typeface="Arial"/>
                <a:cs typeface="Arial"/>
              </a:defRPr>
            </a:pPr>
            <a:r>
              <a:rPr sz="2550" b="1">
                <a:solidFill>
                  <a:srgbClr val="0F766E"/>
                </a:solidFill>
                <a:latin typeface="Arial"/>
                <a:ea typeface="Arial"/>
                <a:cs typeface="Arial"/>
              </a:rPr>
              <a:t>4 outer folds → 3 inner folds → model/preprocessing selection</a:t>
            </a:r>
          </a:p>
        </p:txBody>
      </p:sp>
      <p:sp>
        <p:nvSpPr>
          <p:cNvPr id="4" name="">
            <a:extLst xmlns:a="http://schemas.openxmlformats.org/drawingml/2006/main">
              <a:ext uri="{FF2B5EF4-FFF2-40B4-BE49-F238E27FC236}">
                <a16:creationId xmlns:a16="http://schemas.microsoft.com/office/drawing/2014/main" id="{5F8B45B0-9E68-4642-A32C-59842FC8EB08}"/>
              </a:ext>
            </a:extLst>
          </p:cNvPr>
          <p:cNvSpPr>
            <a:spLocks xmlns:a="http://schemas.openxmlformats.org/drawingml/2006/main" noGrp="1"/>
          </p:cNvSpPr>
          <p:nvPr/>
        </p:nvSpPr>
        <p:spPr>
          <a:xfrm xmlns:a="http://schemas.openxmlformats.org/drawingml/2006/main">
            <a:off x="609600" y="2809875"/>
            <a:ext cx="109728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033"/>
                </a:solidFill>
                <a:latin typeface="Arial"/>
                <a:ea typeface="Arial"/>
                <a:cs typeface="Arial"/>
              </a:defRPr>
            </a:defPPr>
            <a:lvl1pPr>
              <a:defRPr sz="2175" b="0">
                <a:solidFill>
                  <a:srgbClr val="172033"/>
                </a:solidFill>
                <a:latin typeface="Arial"/>
                <a:ea typeface="Arial"/>
                <a:cs typeface="Arial"/>
              </a:defRPr>
            </a:lvl1pPr>
            <a:lvl2pPr>
              <a:defRPr sz="2175" b="0">
                <a:solidFill>
                  <a:srgbClr val="172033"/>
                </a:solidFill>
                <a:latin typeface="Arial"/>
                <a:ea typeface="Arial"/>
                <a:cs typeface="Arial"/>
              </a:defRPr>
            </a:lvl2pPr>
            <a:lvl3pPr>
              <a:defRPr sz="2175" b="0">
                <a:solidFill>
                  <a:srgbClr val="172033"/>
                </a:solidFill>
                <a:latin typeface="Arial"/>
                <a:ea typeface="Arial"/>
                <a:cs typeface="Arial"/>
              </a:defRPr>
            </a:lvl3pPr>
            <a:lvl4pPr>
              <a:defRPr sz="2175" b="0">
                <a:solidFill>
                  <a:srgbClr val="172033"/>
                </a:solidFill>
                <a:latin typeface="Arial"/>
                <a:ea typeface="Arial"/>
                <a:cs typeface="Arial"/>
              </a:defRPr>
            </a:lvl4pPr>
            <a:lvl5pPr>
              <a:defRPr sz="2175" b="0">
                <a:solidFill>
                  <a:srgbClr val="172033"/>
                </a:solidFill>
                <a:latin typeface="Arial"/>
                <a:ea typeface="Arial"/>
                <a:cs typeface="Arial"/>
              </a:defRPr>
            </a:lvl5pPr>
            <a:lvl6pPr>
              <a:defRPr sz="2175" b="0">
                <a:solidFill>
                  <a:srgbClr val="172033"/>
                </a:solidFill>
                <a:latin typeface="Arial"/>
                <a:ea typeface="Arial"/>
                <a:cs typeface="Arial"/>
              </a:defRPr>
            </a:lvl6pPr>
            <a:lvl7pPr>
              <a:defRPr sz="2175" b="0">
                <a:solidFill>
                  <a:srgbClr val="172033"/>
                </a:solidFill>
                <a:latin typeface="Arial"/>
                <a:ea typeface="Arial"/>
                <a:cs typeface="Arial"/>
              </a:defRPr>
            </a:lvl7pPr>
            <a:lvl8pPr>
              <a:defRPr sz="2175" b="0">
                <a:solidFill>
                  <a:srgbClr val="172033"/>
                </a:solidFill>
                <a:latin typeface="Arial"/>
                <a:ea typeface="Arial"/>
                <a:cs typeface="Arial"/>
              </a:defRPr>
            </a:lvl8pPr>
            <a:lvl9pPr>
              <a:defRPr sz="2175" b="0">
                <a:solidFill>
                  <a:srgbClr val="172033"/>
                </a:solidFill>
                <a:latin typeface="Arial"/>
                <a:ea typeface="Arial"/>
                <a:cs typeface="Arial"/>
              </a:defRPr>
            </a:lvl9pPr>
          </a:lstStyle>
          <a:p xmlns:a="http://schemas.openxmlformats.org/drawingml/2006/main">
            <a:pPr>
              <a:defRPr sz="2175" b="0">
                <a:solidFill>
                  <a:srgbClr val="172033"/>
                </a:solidFill>
                <a:latin typeface="Arial"/>
                <a:ea typeface="Arial"/>
                <a:cs typeface="Arial"/>
              </a:defRPr>
            </a:pPr>
            <a:r>
              <a:rPr sz="2175" b="0">
                <a:solidFill>
                  <a:srgbClr val="172033"/>
                </a:solidFill>
                <a:latin typeface="Arial"/>
                <a:ea typeface="Arial"/>
                <a:cs typeface="Arial"/>
              </a:rPr>
              <a:t>12 configurations: 3 GMM + 2 MLP + 1 CNN, each at 8 and 16 kHz.</a:t>
            </a:r>
          </a:p>
          <a:p xmlns:a="http://schemas.openxmlformats.org/drawingml/2006/main">
            <a:pPr>
              <a:defRPr sz="2175" b="0">
                <a:solidFill>
                  <a:srgbClr val="172033"/>
                </a:solidFill>
                <a:latin typeface="Arial"/>
                <a:ea typeface="Arial"/>
                <a:cs typeface="Arial"/>
              </a:defRPr>
            </a:pPr>
            <a:r>
              <a:rPr sz="2175" b="0">
                <a:solidFill>
                  <a:srgbClr val="172033"/>
                </a:solidFill>
                <a:latin typeface="Arial"/>
                <a:ea typeface="Arial"/>
                <a:cs typeface="Arial"/>
              </a:rPr>
              <a:t>Separate fitting, calibration and stopping participants.</a:t>
            </a:r>
          </a:p>
          <a:p xmlns:a="http://schemas.openxmlformats.org/drawingml/2006/main">
            <a:pPr>
              <a:defRPr sz="2175" b="0">
                <a:solidFill>
                  <a:srgbClr val="172033"/>
                </a:solidFill>
                <a:latin typeface="Arial"/>
                <a:ea typeface="Arial"/>
                <a:cs typeface="Arial"/>
              </a:defRPr>
            </a:pPr>
            <a:r>
              <a:rPr sz="2175" b="0">
                <a:solidFill>
                  <a:srgbClr val="172033"/>
                </a:solidFill>
                <a:latin typeface="Arial"/>
                <a:ea typeface="Arial"/>
                <a:cs typeface="Arial"/>
              </a:rPr>
              <a:t>Training-only class/source balancing and spectrogram augmentation.</a:t>
            </a:r>
          </a:p>
          <a:p xmlns:a="http://schemas.openxmlformats.org/drawingml/2006/main">
            <a:pPr>
              <a:defRPr sz="2175" b="0">
                <a:solidFill>
                  <a:srgbClr val="172033"/>
                </a:solidFill>
                <a:latin typeface="Arial"/>
                <a:ea typeface="Arial"/>
                <a:cs typeface="Arial"/>
              </a:defRPr>
            </a:pPr>
            <a:r>
              <a:rPr sz="2175" b="0">
                <a:solidFill>
                  <a:srgbClr val="172033"/>
                </a:solidFill>
                <a:latin typeface="Arial"/>
                <a:ea typeface="Arial"/>
                <a:cs typeface="Arial"/>
              </a:rPr>
              <a:t>Selection gives both datasets equal importance.</a:t>
            </a:r>
          </a:p>
        </p:txBody>
      </p:sp>
      <p:sp>
        <p:nvSpPr>
          <p:cNvPr id="5" name="">
            <a:extLst xmlns:a="http://schemas.openxmlformats.org/drawingml/2006/main">
              <a:ext uri="{FF2B5EF4-FFF2-40B4-BE49-F238E27FC236}">
                <a16:creationId xmlns:a16="http://schemas.microsoft.com/office/drawing/2014/main" id="{95B4CB2F-80E0-4802-AFE7-FC671EEF7E50}"/>
              </a:ext>
            </a:extLst>
          </p:cNvPr>
          <p:cNvSpPr>
            <a:spLocks xmlns:a="http://schemas.openxmlformats.org/drawingml/2006/main" noGrp="1"/>
          </p:cNvSpPr>
          <p:nvPr/>
        </p:nvSpPr>
        <p:spPr>
          <a:xfrm xmlns:a="http://schemas.openxmlformats.org/drawingml/2006/main">
            <a:off x="609600" y="53340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2033"/>
                </a:solidFill>
                <a:latin typeface="Arial"/>
                <a:ea typeface="Arial"/>
                <a:cs typeface="Arial"/>
              </a:defRPr>
            </a:defPPr>
            <a:lvl1pPr>
              <a:defRPr sz="2250" b="1">
                <a:solidFill>
                  <a:srgbClr val="172033"/>
                </a:solidFill>
                <a:latin typeface="Arial"/>
                <a:ea typeface="Arial"/>
                <a:cs typeface="Arial"/>
              </a:defRPr>
            </a:lvl1pPr>
            <a:lvl2pPr>
              <a:defRPr sz="2250" b="1">
                <a:solidFill>
                  <a:srgbClr val="172033"/>
                </a:solidFill>
                <a:latin typeface="Arial"/>
                <a:ea typeface="Arial"/>
                <a:cs typeface="Arial"/>
              </a:defRPr>
            </a:lvl2pPr>
            <a:lvl3pPr>
              <a:defRPr sz="2250" b="1">
                <a:solidFill>
                  <a:srgbClr val="172033"/>
                </a:solidFill>
                <a:latin typeface="Arial"/>
                <a:ea typeface="Arial"/>
                <a:cs typeface="Arial"/>
              </a:defRPr>
            </a:lvl3pPr>
            <a:lvl4pPr>
              <a:defRPr sz="2250" b="1">
                <a:solidFill>
                  <a:srgbClr val="172033"/>
                </a:solidFill>
                <a:latin typeface="Arial"/>
                <a:ea typeface="Arial"/>
                <a:cs typeface="Arial"/>
              </a:defRPr>
            </a:lvl4pPr>
            <a:lvl5pPr>
              <a:defRPr sz="2250" b="1">
                <a:solidFill>
                  <a:srgbClr val="172033"/>
                </a:solidFill>
                <a:latin typeface="Arial"/>
                <a:ea typeface="Arial"/>
                <a:cs typeface="Arial"/>
              </a:defRPr>
            </a:lvl5pPr>
            <a:lvl6pPr>
              <a:defRPr sz="2250" b="1">
                <a:solidFill>
                  <a:srgbClr val="172033"/>
                </a:solidFill>
                <a:latin typeface="Arial"/>
                <a:ea typeface="Arial"/>
                <a:cs typeface="Arial"/>
              </a:defRPr>
            </a:lvl6pPr>
            <a:lvl7pPr>
              <a:defRPr sz="2250" b="1">
                <a:solidFill>
                  <a:srgbClr val="172033"/>
                </a:solidFill>
                <a:latin typeface="Arial"/>
                <a:ea typeface="Arial"/>
                <a:cs typeface="Arial"/>
              </a:defRPr>
            </a:lvl7pPr>
            <a:lvl8pPr>
              <a:defRPr sz="2250" b="1">
                <a:solidFill>
                  <a:srgbClr val="172033"/>
                </a:solidFill>
                <a:latin typeface="Arial"/>
                <a:ea typeface="Arial"/>
                <a:cs typeface="Arial"/>
              </a:defRPr>
            </a:lvl8pPr>
            <a:lvl9pPr>
              <a:defRPr sz="2250" b="1">
                <a:solidFill>
                  <a:srgbClr val="172033"/>
                </a:solidFill>
                <a:latin typeface="Arial"/>
                <a:ea typeface="Arial"/>
                <a:cs typeface="Arial"/>
              </a:defRPr>
            </a:lvl9pPr>
          </a:lstStyle>
          <a:p xmlns:a="http://schemas.openxmlformats.org/drawingml/2006/main">
            <a:pPr>
              <a:defRPr sz="2250" b="1">
                <a:solidFill>
                  <a:srgbClr val="172033"/>
                </a:solidFill>
                <a:latin typeface="Arial"/>
                <a:ea typeface="Arial"/>
                <a:cs typeface="Arial"/>
              </a:defRPr>
            </a:pPr>
            <a:r>
              <a:rPr sz="2250" b="1">
                <a:solidFill>
                  <a:srgbClr val="172033"/>
                </a:solidFill>
                <a:latin typeface="Arial"/>
                <a:ea typeface="Arial"/>
                <a:cs typeface="Arial"/>
              </a:rPr>
              <a:t>Final selected configuration: MLP_medium_8000</a:t>
            </a:r>
          </a:p>
        </p:txBody>
      </p:sp>
    </p:spTree>
    <p:extLst>
      <p:ext uri="{BB962C8B-B14F-4D97-AF65-F5344CB8AC3E}">
        <p14:creationId xmlns:p14="http://schemas.microsoft.com/office/powerpoint/2010/main" val="16141645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301ABD5-2345-428B-AB37-9C6190A14744}"/>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033"/>
                </a:solidFill>
                <a:latin typeface="Arial"/>
                <a:ea typeface="Arial"/>
                <a:cs typeface="Arial"/>
              </a:defRPr>
            </a:defPPr>
            <a:lvl1pPr>
              <a:defRPr sz="3300" b="1">
                <a:solidFill>
                  <a:srgbClr val="172033"/>
                </a:solidFill>
                <a:latin typeface="Arial"/>
                <a:ea typeface="Arial"/>
                <a:cs typeface="Arial"/>
              </a:defRPr>
            </a:lvl1pPr>
            <a:lvl2pPr>
              <a:defRPr sz="3300" b="1">
                <a:solidFill>
                  <a:srgbClr val="172033"/>
                </a:solidFill>
                <a:latin typeface="Arial"/>
                <a:ea typeface="Arial"/>
                <a:cs typeface="Arial"/>
              </a:defRPr>
            </a:lvl2pPr>
            <a:lvl3pPr>
              <a:defRPr sz="3300" b="1">
                <a:solidFill>
                  <a:srgbClr val="172033"/>
                </a:solidFill>
                <a:latin typeface="Arial"/>
                <a:ea typeface="Arial"/>
                <a:cs typeface="Arial"/>
              </a:defRPr>
            </a:lvl3pPr>
            <a:lvl4pPr>
              <a:defRPr sz="3300" b="1">
                <a:solidFill>
                  <a:srgbClr val="172033"/>
                </a:solidFill>
                <a:latin typeface="Arial"/>
                <a:ea typeface="Arial"/>
                <a:cs typeface="Arial"/>
              </a:defRPr>
            </a:lvl4pPr>
            <a:lvl5pPr>
              <a:defRPr sz="3300" b="1">
                <a:solidFill>
                  <a:srgbClr val="172033"/>
                </a:solidFill>
                <a:latin typeface="Arial"/>
                <a:ea typeface="Arial"/>
                <a:cs typeface="Arial"/>
              </a:defRPr>
            </a:lvl5pPr>
            <a:lvl6pPr>
              <a:defRPr sz="3300" b="1">
                <a:solidFill>
                  <a:srgbClr val="172033"/>
                </a:solidFill>
                <a:latin typeface="Arial"/>
                <a:ea typeface="Arial"/>
                <a:cs typeface="Arial"/>
              </a:defRPr>
            </a:lvl6pPr>
            <a:lvl7pPr>
              <a:defRPr sz="3300" b="1">
                <a:solidFill>
                  <a:srgbClr val="172033"/>
                </a:solidFill>
                <a:latin typeface="Arial"/>
                <a:ea typeface="Arial"/>
                <a:cs typeface="Arial"/>
              </a:defRPr>
            </a:lvl7pPr>
            <a:lvl8pPr>
              <a:defRPr sz="3300" b="1">
                <a:solidFill>
                  <a:srgbClr val="172033"/>
                </a:solidFill>
                <a:latin typeface="Arial"/>
                <a:ea typeface="Arial"/>
                <a:cs typeface="Arial"/>
              </a:defRPr>
            </a:lvl8pPr>
            <a:lvl9pPr>
              <a:defRPr sz="3300" b="1">
                <a:solidFill>
                  <a:srgbClr val="172033"/>
                </a:solidFill>
                <a:latin typeface="Arial"/>
                <a:ea typeface="Arial"/>
                <a:cs typeface="Arial"/>
              </a:defRPr>
            </a:lvl9pPr>
          </a:lstStyle>
          <a:p xmlns:a="http://schemas.openxmlformats.org/drawingml/2006/main">
            <a:pPr>
              <a:defRPr sz="3300" b="1">
                <a:solidFill>
                  <a:srgbClr val="172033"/>
                </a:solidFill>
                <a:latin typeface="Arial"/>
                <a:ea typeface="Arial"/>
                <a:cs typeface="Arial"/>
              </a:defRPr>
            </a:pPr>
            <a:r>
              <a:rPr sz="3300" b="1">
                <a:solidFill>
                  <a:srgbClr val="172033"/>
                </a:solidFill>
                <a:latin typeface="Arial"/>
                <a:ea typeface="Arial"/>
                <a:cs typeface="Arial"/>
              </a:rPr>
              <a:t>Nested development results</a:t>
            </a:r>
          </a:p>
        </p:txBody>
      </p:sp>
      <p:sp>
        <p:nvSpPr>
          <p:cNvPr id="2" name="">
            <a:extLst xmlns:a="http://schemas.openxmlformats.org/drawingml/2006/main">
              <a:ext uri="{FF2B5EF4-FFF2-40B4-BE49-F238E27FC236}">
                <a16:creationId xmlns:a16="http://schemas.microsoft.com/office/drawing/2014/main" id="{30B76451-03E5-4F11-AC36-1B73026B16BC}"/>
              </a:ext>
            </a:extLst>
          </p:cNvPr>
          <p:cNvSpPr>
            <a:spLocks xmlns:a="http://schemas.openxmlformats.org/drawingml/2006/main" noGrp="1"/>
          </p:cNvSpPr>
          <p:nvPr/>
        </p:nvSpPr>
        <p:spPr>
          <a:xfrm xmlns:a="http://schemas.openxmlformats.org/drawingml/2006/main">
            <a:off x="11239500" y="64008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75569"/>
                </a:solidFill>
                <a:latin typeface="Arial"/>
                <a:ea typeface="Arial"/>
                <a:cs typeface="Arial"/>
              </a:defRPr>
            </a:defPPr>
            <a:lvl1pPr>
              <a:defRPr sz="1350" b="0">
                <a:solidFill>
                  <a:srgbClr val="475569"/>
                </a:solidFill>
                <a:latin typeface="Arial"/>
                <a:ea typeface="Arial"/>
                <a:cs typeface="Arial"/>
              </a:defRPr>
            </a:lvl1pPr>
            <a:lvl2pPr>
              <a:defRPr sz="1350" b="0">
                <a:solidFill>
                  <a:srgbClr val="475569"/>
                </a:solidFill>
                <a:latin typeface="Arial"/>
                <a:ea typeface="Arial"/>
                <a:cs typeface="Arial"/>
              </a:defRPr>
            </a:lvl2pPr>
            <a:lvl3pPr>
              <a:defRPr sz="1350" b="0">
                <a:solidFill>
                  <a:srgbClr val="475569"/>
                </a:solidFill>
                <a:latin typeface="Arial"/>
                <a:ea typeface="Arial"/>
                <a:cs typeface="Arial"/>
              </a:defRPr>
            </a:lvl3pPr>
            <a:lvl4pPr>
              <a:defRPr sz="1350" b="0">
                <a:solidFill>
                  <a:srgbClr val="475569"/>
                </a:solidFill>
                <a:latin typeface="Arial"/>
                <a:ea typeface="Arial"/>
                <a:cs typeface="Arial"/>
              </a:defRPr>
            </a:lvl4pPr>
            <a:lvl5pPr>
              <a:defRPr sz="1350" b="0">
                <a:solidFill>
                  <a:srgbClr val="475569"/>
                </a:solidFill>
                <a:latin typeface="Arial"/>
                <a:ea typeface="Arial"/>
                <a:cs typeface="Arial"/>
              </a:defRPr>
            </a:lvl5pPr>
            <a:lvl6pPr>
              <a:defRPr sz="1350" b="0">
                <a:solidFill>
                  <a:srgbClr val="475569"/>
                </a:solidFill>
                <a:latin typeface="Arial"/>
                <a:ea typeface="Arial"/>
                <a:cs typeface="Arial"/>
              </a:defRPr>
            </a:lvl6pPr>
            <a:lvl7pPr>
              <a:defRPr sz="1350" b="0">
                <a:solidFill>
                  <a:srgbClr val="475569"/>
                </a:solidFill>
                <a:latin typeface="Arial"/>
                <a:ea typeface="Arial"/>
                <a:cs typeface="Arial"/>
              </a:defRPr>
            </a:lvl7pPr>
            <a:lvl8pPr>
              <a:defRPr sz="1350" b="0">
                <a:solidFill>
                  <a:srgbClr val="475569"/>
                </a:solidFill>
                <a:latin typeface="Arial"/>
                <a:ea typeface="Arial"/>
                <a:cs typeface="Arial"/>
              </a:defRPr>
            </a:lvl8pPr>
            <a:lvl9pPr>
              <a:defRPr sz="1350" b="0">
                <a:solidFill>
                  <a:srgbClr val="475569"/>
                </a:solidFill>
                <a:latin typeface="Arial"/>
                <a:ea typeface="Arial"/>
                <a:cs typeface="Arial"/>
              </a:defRPr>
            </a:lvl9pPr>
          </a:lstStyle>
          <a:p xmlns:a="http://schemas.openxmlformats.org/drawingml/2006/main">
            <a:pPr>
              <a:defRPr sz="1350" b="0">
                <a:solidFill>
                  <a:srgbClr val="475569"/>
                </a:solidFill>
                <a:latin typeface="Arial"/>
                <a:ea typeface="Arial"/>
                <a:cs typeface="Arial"/>
              </a:defRPr>
            </a:pPr>
            <a:r>
              <a:rPr sz="1350" b="0">
                <a:solidFill>
                  <a:srgbClr val="475569"/>
                </a:solidFill>
                <a:latin typeface="Arial"/>
                <a:ea typeface="Arial"/>
                <a:cs typeface="Arial"/>
              </a:rPr>
              <a:t>6</a:t>
            </a:r>
          </a:p>
        </p:txBody>
      </p:sp>
      <p:graphicFrame>
        <p:nvGraphicFramePr>
          <p:cNvPr id="3" name="">
            <a:extLst xmlns:a="http://schemas.openxmlformats.org/drawingml/2006/main">
              <a:ext uri="{FF2B5EF4-FFF2-40B4-BE49-F238E27FC236}">
                <a16:creationId xmlns:a16="http://schemas.microsoft.com/office/drawing/2014/main" id="{E1921096-AFFC-4D41-B1DB-47495AA55E42}"/>
              </a:ext>
            </a:extLst>
          </p:cNvPr>
          <p:cNvGraphicFramePr/>
          <p:nvPr/>
        </p:nvGraphicFramePr>
        <p:xfrm>
          <a:off xmlns:a="http://schemas.openxmlformats.org/drawingml/2006/main" x="609600" y="1524000"/>
          <a:ext xmlns:a="http://schemas.openxmlformats.org/drawingml/2006/main" cx="10972800" cy="2714625"/>
        </p:xfrm>
        <a:graphic xmlns:a="http://schemas.openxmlformats.org/drawingml/2006/main">
          <a:graphicData uri="http://schemas.openxmlformats.org/drawingml/2006/table">
            <a:tbl>
              <a:tblPr/>
              <a:tblGrid>
                <a:gridCol w="2381250"/>
                <a:gridCol w="3333750"/>
                <a:gridCol w="2628900"/>
                <a:gridCol w="2628900"/>
              </a:tblGrid>
              <a:tr h="678656">
                <a:tc>
                  <a:txBody>
                    <a:bodyPr/>
                    <a:lstStyle/>
                    <a:p>
                      <a:r>
                        <a:rPr sz="2025" b="1">
                          <a:solidFill>
                            <a:srgbClr val="172033"/>
                          </a:solidFill>
                          <a:latin typeface="Arial"/>
                          <a:ea typeface="Arial"/>
                          <a:cs typeface="Arial"/>
                        </a:rPr>
                        <a:t>Source</a:t>
                      </a:r>
                    </a:p>
                  </a:txBody>
                  <a:tcPr marL="91440" marR="91440" marT="45720" marB="45720">
                    <a:lnL w="9525">
                      <a:solidFill>
                        <a:srgbClr val="DCE5EA"/>
                      </a:solidFill>
                      <a:prstDash val="solid"/>
                    </a:lnL>
                    <a:lnR w="9525">
                      <a:solidFill>
                        <a:srgbClr val="DCE5EA"/>
                      </a:solidFill>
                      <a:prstDash val="solid"/>
                    </a:lnR>
                    <a:lnT w="9525">
                      <a:solidFill>
                        <a:srgbClr val="DCE5EA"/>
                      </a:solidFill>
                      <a:prstDash val="solid"/>
                    </a:lnT>
                    <a:lnB w="9525">
                      <a:solidFill>
                        <a:srgbClr val="DCE5EA"/>
                      </a:solidFill>
                      <a:prstDash val="solid"/>
                    </a:lnB>
                    <a:solidFill>
                      <a:srgbClr val="EAF5F2"/>
                    </a:solidFill>
                  </a:tcPr>
                </a:tc>
                <a:tc>
                  <a:txBody>
                    <a:bodyPr/>
                    <a:lstStyle/>
                    <a:p>
                      <a:r>
                        <a:rPr sz="2025" b="1">
                          <a:solidFill>
                            <a:srgbClr val="172033"/>
                          </a:solidFill>
                          <a:latin typeface="Arial"/>
                          <a:ea typeface="Arial"/>
                          <a:cs typeface="Arial"/>
                        </a:rPr>
                        <a:t>Balanced accuracy</a:t>
                      </a:r>
                    </a:p>
                  </a:txBody>
                  <a:tcPr marL="91440" marR="91440" marT="45720" marB="45720">
                    <a:lnR w="9525">
                      <a:solidFill>
                        <a:srgbClr val="DCE5EA"/>
                      </a:solidFill>
                      <a:prstDash val="solid"/>
                    </a:lnR>
                    <a:lnT w="9525">
                      <a:solidFill>
                        <a:srgbClr val="DCE5EA"/>
                      </a:solidFill>
                      <a:prstDash val="solid"/>
                    </a:lnT>
                    <a:lnB w="9525">
                      <a:solidFill>
                        <a:srgbClr val="DCE5EA"/>
                      </a:solidFill>
                      <a:prstDash val="solid"/>
                    </a:lnB>
                    <a:solidFill>
                      <a:srgbClr val="EAF5F2"/>
                    </a:solidFill>
                  </a:tcPr>
                </a:tc>
                <a:tc>
                  <a:txBody>
                    <a:bodyPr/>
                    <a:lstStyle/>
                    <a:p>
                      <a:r>
                        <a:rPr sz="2025" b="1">
                          <a:solidFill>
                            <a:srgbClr val="172033"/>
                          </a:solidFill>
                          <a:latin typeface="Arial"/>
                          <a:ea typeface="Arial"/>
                          <a:cs typeface="Arial"/>
                        </a:rPr>
                        <a:t>Sensitivity</a:t>
                      </a:r>
                    </a:p>
                  </a:txBody>
                  <a:tcPr marL="91440" marR="91440" marT="45720" marB="45720">
                    <a:lnR w="9525">
                      <a:solidFill>
                        <a:srgbClr val="DCE5EA"/>
                      </a:solidFill>
                      <a:prstDash val="solid"/>
                    </a:lnR>
                    <a:lnT w="9525">
                      <a:solidFill>
                        <a:srgbClr val="DCE5EA"/>
                      </a:solidFill>
                      <a:prstDash val="solid"/>
                    </a:lnT>
                    <a:lnB w="9525">
                      <a:solidFill>
                        <a:srgbClr val="DCE5EA"/>
                      </a:solidFill>
                      <a:prstDash val="solid"/>
                    </a:lnB>
                    <a:solidFill>
                      <a:srgbClr val="EAF5F2"/>
                    </a:solidFill>
                  </a:tcPr>
                </a:tc>
                <a:tc>
                  <a:txBody>
                    <a:bodyPr/>
                    <a:lstStyle/>
                    <a:p>
                      <a:r>
                        <a:rPr sz="2025" b="1">
                          <a:solidFill>
                            <a:srgbClr val="172033"/>
                          </a:solidFill>
                          <a:latin typeface="Arial"/>
                          <a:ea typeface="Arial"/>
                          <a:cs typeface="Arial"/>
                        </a:rPr>
                        <a:t>Specificity</a:t>
                      </a:r>
                    </a:p>
                  </a:txBody>
                  <a:tcPr marL="91440" marR="91440" marT="45720" marB="45720">
                    <a:lnR w="9525">
                      <a:solidFill>
                        <a:srgbClr val="DCE5EA"/>
                      </a:solidFill>
                      <a:prstDash val="solid"/>
                    </a:lnR>
                    <a:lnT w="9525">
                      <a:solidFill>
                        <a:srgbClr val="DCE5EA"/>
                      </a:solidFill>
                      <a:prstDash val="solid"/>
                    </a:lnT>
                    <a:lnB w="9525">
                      <a:solidFill>
                        <a:srgbClr val="DCE5EA"/>
                      </a:solidFill>
                      <a:prstDash val="solid"/>
                    </a:lnB>
                    <a:solidFill>
                      <a:srgbClr val="EAF5F2"/>
                    </a:solidFill>
                  </a:tcPr>
                </a:tc>
              </a:tr>
              <a:tr h="678656">
                <a:tc>
                  <a:txBody>
                    <a:bodyPr/>
                    <a:lstStyle/>
                    <a:p>
                      <a:r>
                        <a:rPr sz="2025" b="0">
                          <a:solidFill>
                            <a:srgbClr val="172033"/>
                          </a:solidFill>
                          <a:latin typeface="Arial"/>
                          <a:ea typeface="Arial"/>
                          <a:cs typeface="Arial"/>
                        </a:rPr>
                        <a:t>SVD</a:t>
                      </a:r>
                    </a:p>
                  </a:txBody>
                  <a:tcPr marL="91440" marR="91440" marT="45720" marB="45720">
                    <a:lnL w="9525">
                      <a:solidFill>
                        <a:srgbClr val="DCE5EA"/>
                      </a:solidFill>
                      <a:prstDash val="solid"/>
                    </a:lnL>
                    <a:lnR w="9525">
                      <a:solidFill>
                        <a:srgbClr val="DCE5EA"/>
                      </a:solidFill>
                      <a:prstDash val="solid"/>
                    </a:lnR>
                    <a:lnB w="9525">
                      <a:solidFill>
                        <a:srgbClr val="DCE5EA"/>
                      </a:solidFill>
                      <a:prstDash val="solid"/>
                    </a:lnB>
                    <a:solidFill>
                      <a:srgbClr val="FFFFFF"/>
                    </a:solidFill>
                  </a:tcPr>
                </a:tc>
                <a:tc>
                  <a:txBody>
                    <a:bodyPr/>
                    <a:lstStyle/>
                    <a:p>
                      <a:r>
                        <a:rPr sz="2025" b="0">
                          <a:solidFill>
                            <a:srgbClr val="172033"/>
                          </a:solidFill>
                          <a:latin typeface="Arial"/>
                          <a:ea typeface="Arial"/>
                          <a:cs typeface="Arial"/>
                        </a:rPr>
                        <a:t>68.95%</a:t>
                      </a:r>
                    </a:p>
                  </a:txBody>
                  <a:tcPr marL="91440" marR="91440" marT="45720" marB="45720">
                    <a:lnR w="9525">
                      <a:solidFill>
                        <a:srgbClr val="DCE5EA"/>
                      </a:solidFill>
                      <a:prstDash val="solid"/>
                    </a:lnR>
                    <a:lnB w="9525">
                      <a:solidFill>
                        <a:srgbClr val="DCE5EA"/>
                      </a:solidFill>
                      <a:prstDash val="solid"/>
                    </a:lnB>
                    <a:solidFill>
                      <a:srgbClr val="FFFFFF"/>
                    </a:solidFill>
                  </a:tcPr>
                </a:tc>
                <a:tc>
                  <a:txBody>
                    <a:bodyPr/>
                    <a:lstStyle/>
                    <a:p>
                      <a:r>
                        <a:rPr sz="2025" b="0">
                          <a:solidFill>
                            <a:srgbClr val="172033"/>
                          </a:solidFill>
                          <a:latin typeface="Arial"/>
                          <a:ea typeface="Arial"/>
                          <a:cs typeface="Arial"/>
                        </a:rPr>
                        <a:t>60.33%</a:t>
                      </a:r>
                    </a:p>
                  </a:txBody>
                  <a:tcPr marL="91440" marR="91440" marT="45720" marB="45720">
                    <a:lnR w="9525">
                      <a:solidFill>
                        <a:srgbClr val="DCE5EA"/>
                      </a:solidFill>
                      <a:prstDash val="solid"/>
                    </a:lnR>
                    <a:lnB w="9525">
                      <a:solidFill>
                        <a:srgbClr val="DCE5EA"/>
                      </a:solidFill>
                      <a:prstDash val="solid"/>
                    </a:lnB>
                    <a:solidFill>
                      <a:srgbClr val="FFFFFF"/>
                    </a:solidFill>
                  </a:tcPr>
                </a:tc>
                <a:tc>
                  <a:txBody>
                    <a:bodyPr/>
                    <a:lstStyle/>
                    <a:p>
                      <a:r>
                        <a:rPr sz="2025" b="0">
                          <a:solidFill>
                            <a:srgbClr val="172033"/>
                          </a:solidFill>
                          <a:latin typeface="Arial"/>
                          <a:ea typeface="Arial"/>
                          <a:cs typeface="Arial"/>
                        </a:rPr>
                        <a:t>77.58%</a:t>
                      </a:r>
                    </a:p>
                  </a:txBody>
                  <a:tcPr marL="91440" marR="91440" marT="45720" marB="45720">
                    <a:lnR w="9525">
                      <a:solidFill>
                        <a:srgbClr val="DCE5EA"/>
                      </a:solidFill>
                      <a:prstDash val="solid"/>
                    </a:lnR>
                    <a:lnB w="9525">
                      <a:solidFill>
                        <a:srgbClr val="DCE5EA"/>
                      </a:solidFill>
                      <a:prstDash val="solid"/>
                    </a:lnB>
                    <a:solidFill>
                      <a:srgbClr val="FFFFFF"/>
                    </a:solidFill>
                  </a:tcPr>
                </a:tc>
              </a:tr>
              <a:tr h="678656">
                <a:tc>
                  <a:txBody>
                    <a:bodyPr/>
                    <a:lstStyle/>
                    <a:p>
                      <a:r>
                        <a:rPr sz="2025" b="0">
                          <a:solidFill>
                            <a:srgbClr val="172033"/>
                          </a:solidFill>
                          <a:latin typeface="Arial"/>
                          <a:ea typeface="Arial"/>
                          <a:cs typeface="Arial"/>
                        </a:rPr>
                        <a:t>VOICED</a:t>
                      </a:r>
                    </a:p>
                  </a:txBody>
                  <a:tcPr marL="91440" marR="91440" marT="45720" marB="45720">
                    <a:lnL w="9525">
                      <a:solidFill>
                        <a:srgbClr val="DCE5EA"/>
                      </a:solidFill>
                      <a:prstDash val="solid"/>
                    </a:lnL>
                    <a:lnR w="9525">
                      <a:solidFill>
                        <a:srgbClr val="DCE5EA"/>
                      </a:solidFill>
                      <a:prstDash val="solid"/>
                    </a:lnR>
                    <a:lnB w="9525">
                      <a:solidFill>
                        <a:srgbClr val="DCE5EA"/>
                      </a:solidFill>
                      <a:prstDash val="solid"/>
                    </a:lnB>
                    <a:solidFill>
                      <a:srgbClr val="FFFFFF"/>
                    </a:solidFill>
                  </a:tcPr>
                </a:tc>
                <a:tc>
                  <a:txBody>
                    <a:bodyPr/>
                    <a:lstStyle/>
                    <a:p>
                      <a:r>
                        <a:rPr sz="2025" b="0">
                          <a:solidFill>
                            <a:srgbClr val="172033"/>
                          </a:solidFill>
                          <a:latin typeface="Arial"/>
                          <a:ea typeface="Arial"/>
                          <a:cs typeface="Arial"/>
                        </a:rPr>
                        <a:t>62.70%</a:t>
                      </a:r>
                    </a:p>
                  </a:txBody>
                  <a:tcPr marL="91440" marR="91440" marT="45720" marB="45720">
                    <a:lnR w="9525">
                      <a:solidFill>
                        <a:srgbClr val="DCE5EA"/>
                      </a:solidFill>
                      <a:prstDash val="solid"/>
                    </a:lnR>
                    <a:lnB w="9525">
                      <a:solidFill>
                        <a:srgbClr val="DCE5EA"/>
                      </a:solidFill>
                      <a:prstDash val="solid"/>
                    </a:lnB>
                    <a:solidFill>
                      <a:srgbClr val="FFFFFF"/>
                    </a:solidFill>
                  </a:tcPr>
                </a:tc>
                <a:tc>
                  <a:txBody>
                    <a:bodyPr/>
                    <a:lstStyle/>
                    <a:p>
                      <a:r>
                        <a:rPr sz="2025" b="0">
                          <a:solidFill>
                            <a:srgbClr val="172033"/>
                          </a:solidFill>
                          <a:latin typeface="Arial"/>
                          <a:ea typeface="Arial"/>
                          <a:cs typeface="Arial"/>
                        </a:rPr>
                        <a:t>62.25%</a:t>
                      </a:r>
                    </a:p>
                  </a:txBody>
                  <a:tcPr marL="91440" marR="91440" marT="45720" marB="45720">
                    <a:lnR w="9525">
                      <a:solidFill>
                        <a:srgbClr val="DCE5EA"/>
                      </a:solidFill>
                      <a:prstDash val="solid"/>
                    </a:lnR>
                    <a:lnB w="9525">
                      <a:solidFill>
                        <a:srgbClr val="DCE5EA"/>
                      </a:solidFill>
                      <a:prstDash val="solid"/>
                    </a:lnB>
                    <a:solidFill>
                      <a:srgbClr val="FFFFFF"/>
                    </a:solidFill>
                  </a:tcPr>
                </a:tc>
                <a:tc>
                  <a:txBody>
                    <a:bodyPr/>
                    <a:lstStyle/>
                    <a:p>
                      <a:r>
                        <a:rPr sz="2025" b="0">
                          <a:solidFill>
                            <a:srgbClr val="172033"/>
                          </a:solidFill>
                          <a:latin typeface="Arial"/>
                          <a:ea typeface="Arial"/>
                          <a:cs typeface="Arial"/>
                        </a:rPr>
                        <a:t>63.16%</a:t>
                      </a:r>
                    </a:p>
                  </a:txBody>
                  <a:tcPr marL="91440" marR="91440" marT="45720" marB="45720">
                    <a:lnR w="9525">
                      <a:solidFill>
                        <a:srgbClr val="DCE5EA"/>
                      </a:solidFill>
                      <a:prstDash val="solid"/>
                    </a:lnR>
                    <a:lnB w="9525">
                      <a:solidFill>
                        <a:srgbClr val="DCE5EA"/>
                      </a:solidFill>
                      <a:prstDash val="solid"/>
                    </a:lnB>
                    <a:solidFill>
                      <a:srgbClr val="FFFFFF"/>
                    </a:solidFill>
                  </a:tcPr>
                </a:tc>
              </a:tr>
              <a:tr h="678656">
                <a:tc>
                  <a:txBody>
                    <a:bodyPr/>
                    <a:lstStyle/>
                    <a:p>
                      <a:r>
                        <a:rPr sz="2025" b="0">
                          <a:solidFill>
                            <a:srgbClr val="172033"/>
                          </a:solidFill>
                          <a:latin typeface="Arial"/>
                          <a:ea typeface="Arial"/>
                          <a:cs typeface="Arial"/>
                        </a:rPr>
                        <a:t>pooled</a:t>
                      </a:r>
                    </a:p>
                  </a:txBody>
                  <a:tcPr marL="91440" marR="91440" marT="45720" marB="45720">
                    <a:lnL w="9525">
                      <a:solidFill>
                        <a:srgbClr val="DCE5EA"/>
                      </a:solidFill>
                      <a:prstDash val="solid"/>
                    </a:lnL>
                    <a:lnR w="9525">
                      <a:solidFill>
                        <a:srgbClr val="DCE5EA"/>
                      </a:solidFill>
                      <a:prstDash val="solid"/>
                    </a:lnR>
                    <a:lnB w="9525">
                      <a:solidFill>
                        <a:srgbClr val="DCE5EA"/>
                      </a:solidFill>
                      <a:prstDash val="solid"/>
                    </a:lnB>
                    <a:solidFill>
                      <a:srgbClr val="FFFFFF"/>
                    </a:solidFill>
                  </a:tcPr>
                </a:tc>
                <a:tc>
                  <a:txBody>
                    <a:bodyPr/>
                    <a:lstStyle/>
                    <a:p>
                      <a:r>
                        <a:rPr sz="2025" b="0">
                          <a:solidFill>
                            <a:srgbClr val="172033"/>
                          </a:solidFill>
                          <a:latin typeface="Arial"/>
                          <a:ea typeface="Arial"/>
                          <a:cs typeface="Arial"/>
                        </a:rPr>
                        <a:t>68.58%</a:t>
                      </a:r>
                    </a:p>
                  </a:txBody>
                  <a:tcPr marL="91440" marR="91440" marT="45720" marB="45720">
                    <a:lnR w="9525">
                      <a:solidFill>
                        <a:srgbClr val="DCE5EA"/>
                      </a:solidFill>
                      <a:prstDash val="solid"/>
                    </a:lnR>
                    <a:lnB w="9525">
                      <a:solidFill>
                        <a:srgbClr val="DCE5EA"/>
                      </a:solidFill>
                      <a:prstDash val="solid"/>
                    </a:lnB>
                    <a:solidFill>
                      <a:srgbClr val="FFFFFF"/>
                    </a:solidFill>
                  </a:tcPr>
                </a:tc>
                <a:tc>
                  <a:txBody>
                    <a:bodyPr/>
                    <a:lstStyle/>
                    <a:p>
                      <a:r>
                        <a:rPr sz="2025" b="0">
                          <a:solidFill>
                            <a:srgbClr val="172033"/>
                          </a:solidFill>
                          <a:latin typeface="Arial"/>
                          <a:ea typeface="Arial"/>
                          <a:cs typeface="Arial"/>
                        </a:rPr>
                        <a:t>60.74%</a:t>
                      </a:r>
                    </a:p>
                  </a:txBody>
                  <a:tcPr marL="91440" marR="91440" marT="45720" marB="45720">
                    <a:lnR w="9525">
                      <a:solidFill>
                        <a:srgbClr val="DCE5EA"/>
                      </a:solidFill>
                      <a:prstDash val="solid"/>
                    </a:lnR>
                    <a:lnB w="9525">
                      <a:solidFill>
                        <a:srgbClr val="DCE5EA"/>
                      </a:solidFill>
                      <a:prstDash val="solid"/>
                    </a:lnB>
                    <a:solidFill>
                      <a:srgbClr val="FFFFFF"/>
                    </a:solidFill>
                  </a:tcPr>
                </a:tc>
                <a:tc>
                  <a:txBody>
                    <a:bodyPr/>
                    <a:lstStyle/>
                    <a:p>
                      <a:r>
                        <a:rPr sz="2025" b="0">
                          <a:solidFill>
                            <a:srgbClr val="172033"/>
                          </a:solidFill>
                          <a:latin typeface="Arial"/>
                          <a:ea typeface="Arial"/>
                          <a:cs typeface="Arial"/>
                        </a:rPr>
                        <a:t>76.43%</a:t>
                      </a:r>
                    </a:p>
                  </a:txBody>
                  <a:tcPr marL="91440" marR="91440" marT="45720" marB="45720">
                    <a:lnR w="9525">
                      <a:solidFill>
                        <a:srgbClr val="DCE5EA"/>
                      </a:solidFill>
                      <a:prstDash val="solid"/>
                    </a:lnR>
                    <a:lnB w="9525">
                      <a:solidFill>
                        <a:srgbClr val="DCE5EA"/>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1BFC94B-9CD2-4CD4-8CEE-ACC19005BA4B}"/>
              </a:ext>
            </a:extLst>
          </p:cNvPr>
          <p:cNvSpPr>
            <a:spLocks xmlns:a="http://schemas.openxmlformats.org/drawingml/2006/main" noGrp="1"/>
          </p:cNvSpPr>
          <p:nvPr/>
        </p:nvSpPr>
        <p:spPr>
          <a:xfrm xmlns:a="http://schemas.openxmlformats.org/drawingml/2006/main">
            <a:off x="609600" y="49053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F766E"/>
                </a:solidFill>
                <a:latin typeface="Arial"/>
                <a:ea typeface="Arial"/>
                <a:cs typeface="Arial"/>
              </a:defRPr>
            </a:defPPr>
            <a:lvl1pPr>
              <a:defRPr sz="2325" b="1">
                <a:solidFill>
                  <a:srgbClr val="0F766E"/>
                </a:solidFill>
                <a:latin typeface="Arial"/>
                <a:ea typeface="Arial"/>
                <a:cs typeface="Arial"/>
              </a:defRPr>
            </a:lvl1pPr>
            <a:lvl2pPr>
              <a:defRPr sz="2325" b="1">
                <a:solidFill>
                  <a:srgbClr val="0F766E"/>
                </a:solidFill>
                <a:latin typeface="Arial"/>
                <a:ea typeface="Arial"/>
                <a:cs typeface="Arial"/>
              </a:defRPr>
            </a:lvl2pPr>
            <a:lvl3pPr>
              <a:defRPr sz="2325" b="1">
                <a:solidFill>
                  <a:srgbClr val="0F766E"/>
                </a:solidFill>
                <a:latin typeface="Arial"/>
                <a:ea typeface="Arial"/>
                <a:cs typeface="Arial"/>
              </a:defRPr>
            </a:lvl3pPr>
            <a:lvl4pPr>
              <a:defRPr sz="2325" b="1">
                <a:solidFill>
                  <a:srgbClr val="0F766E"/>
                </a:solidFill>
                <a:latin typeface="Arial"/>
                <a:ea typeface="Arial"/>
                <a:cs typeface="Arial"/>
              </a:defRPr>
            </a:lvl4pPr>
            <a:lvl5pPr>
              <a:defRPr sz="2325" b="1">
                <a:solidFill>
                  <a:srgbClr val="0F766E"/>
                </a:solidFill>
                <a:latin typeface="Arial"/>
                <a:ea typeface="Arial"/>
                <a:cs typeface="Arial"/>
              </a:defRPr>
            </a:lvl5pPr>
            <a:lvl6pPr>
              <a:defRPr sz="2325" b="1">
                <a:solidFill>
                  <a:srgbClr val="0F766E"/>
                </a:solidFill>
                <a:latin typeface="Arial"/>
                <a:ea typeface="Arial"/>
                <a:cs typeface="Arial"/>
              </a:defRPr>
            </a:lvl6pPr>
            <a:lvl7pPr>
              <a:defRPr sz="2325" b="1">
                <a:solidFill>
                  <a:srgbClr val="0F766E"/>
                </a:solidFill>
                <a:latin typeface="Arial"/>
                <a:ea typeface="Arial"/>
                <a:cs typeface="Arial"/>
              </a:defRPr>
            </a:lvl7pPr>
            <a:lvl8pPr>
              <a:defRPr sz="2325" b="1">
                <a:solidFill>
                  <a:srgbClr val="0F766E"/>
                </a:solidFill>
                <a:latin typeface="Arial"/>
                <a:ea typeface="Arial"/>
                <a:cs typeface="Arial"/>
              </a:defRPr>
            </a:lvl8pPr>
            <a:lvl9pPr>
              <a:defRPr sz="2325" b="1">
                <a:solidFill>
                  <a:srgbClr val="0F766E"/>
                </a:solidFill>
                <a:latin typeface="Arial"/>
                <a:ea typeface="Arial"/>
                <a:cs typeface="Arial"/>
              </a:defRPr>
            </a:lvl9pPr>
          </a:lstStyle>
          <a:p xmlns:a="http://schemas.openxmlformats.org/drawingml/2006/main">
            <a:pPr>
              <a:defRPr sz="2325" b="1">
                <a:solidFill>
                  <a:srgbClr val="0F766E"/>
                </a:solidFill>
                <a:latin typeface="Arial"/>
                <a:ea typeface="Arial"/>
                <a:cs typeface="Arial"/>
              </a:defRPr>
            </a:pPr>
            <a:r>
              <a:rPr sz="2325" b="1">
                <a:solidFill>
                  <a:srgbClr val="0F766E"/>
                </a:solidFill>
                <a:latin typeface="Arial"/>
                <a:ea typeface="Arial"/>
                <a:cs typeface="Arial"/>
              </a:rPr>
              <a:t>Outer folds evaluate a selection procedure.</a:t>
            </a:r>
          </a:p>
          <a:p xmlns:a="http://schemas.openxmlformats.org/drawingml/2006/main">
            <a:pPr>
              <a:defRPr sz="2325" b="1">
                <a:solidFill>
                  <a:srgbClr val="0F766E"/>
                </a:solidFill>
                <a:latin typeface="Arial"/>
                <a:ea typeface="Arial"/>
                <a:cs typeface="Arial"/>
              </a:defRPr>
            </a:pPr>
            <a:r>
              <a:rPr sz="2325" b="1">
                <a:solidFill>
                  <a:srgbClr val="0F766E"/>
                </a:solidFill>
                <a:latin typeface="Arial"/>
                <a:ea typeface="Arial"/>
                <a:cs typeface="Arial"/>
              </a:rPr>
              <a:t>The final fitted artifact has no new independent test.</a:t>
            </a:r>
          </a:p>
        </p:txBody>
      </p:sp>
    </p:spTree>
    <p:extLst>
      <p:ext uri="{BB962C8B-B14F-4D97-AF65-F5344CB8AC3E}">
        <p14:creationId xmlns:p14="http://schemas.microsoft.com/office/powerpoint/2010/main" val="120295182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75264E9-165C-4570-9ABF-850B3AC88DB7}"/>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033"/>
                </a:solidFill>
                <a:latin typeface="Arial"/>
                <a:ea typeface="Arial"/>
                <a:cs typeface="Arial"/>
              </a:defRPr>
            </a:defPPr>
            <a:lvl1pPr>
              <a:defRPr sz="3300" b="1">
                <a:solidFill>
                  <a:srgbClr val="172033"/>
                </a:solidFill>
                <a:latin typeface="Arial"/>
                <a:ea typeface="Arial"/>
                <a:cs typeface="Arial"/>
              </a:defRPr>
            </a:lvl1pPr>
            <a:lvl2pPr>
              <a:defRPr sz="3300" b="1">
                <a:solidFill>
                  <a:srgbClr val="172033"/>
                </a:solidFill>
                <a:latin typeface="Arial"/>
                <a:ea typeface="Arial"/>
                <a:cs typeface="Arial"/>
              </a:defRPr>
            </a:lvl2pPr>
            <a:lvl3pPr>
              <a:defRPr sz="3300" b="1">
                <a:solidFill>
                  <a:srgbClr val="172033"/>
                </a:solidFill>
                <a:latin typeface="Arial"/>
                <a:ea typeface="Arial"/>
                <a:cs typeface="Arial"/>
              </a:defRPr>
            </a:lvl3pPr>
            <a:lvl4pPr>
              <a:defRPr sz="3300" b="1">
                <a:solidFill>
                  <a:srgbClr val="172033"/>
                </a:solidFill>
                <a:latin typeface="Arial"/>
                <a:ea typeface="Arial"/>
                <a:cs typeface="Arial"/>
              </a:defRPr>
            </a:lvl4pPr>
            <a:lvl5pPr>
              <a:defRPr sz="3300" b="1">
                <a:solidFill>
                  <a:srgbClr val="172033"/>
                </a:solidFill>
                <a:latin typeface="Arial"/>
                <a:ea typeface="Arial"/>
                <a:cs typeface="Arial"/>
              </a:defRPr>
            </a:lvl5pPr>
            <a:lvl6pPr>
              <a:defRPr sz="3300" b="1">
                <a:solidFill>
                  <a:srgbClr val="172033"/>
                </a:solidFill>
                <a:latin typeface="Arial"/>
                <a:ea typeface="Arial"/>
                <a:cs typeface="Arial"/>
              </a:defRPr>
            </a:lvl6pPr>
            <a:lvl7pPr>
              <a:defRPr sz="3300" b="1">
                <a:solidFill>
                  <a:srgbClr val="172033"/>
                </a:solidFill>
                <a:latin typeface="Arial"/>
                <a:ea typeface="Arial"/>
                <a:cs typeface="Arial"/>
              </a:defRPr>
            </a:lvl7pPr>
            <a:lvl8pPr>
              <a:defRPr sz="3300" b="1">
                <a:solidFill>
                  <a:srgbClr val="172033"/>
                </a:solidFill>
                <a:latin typeface="Arial"/>
                <a:ea typeface="Arial"/>
                <a:cs typeface="Arial"/>
              </a:defRPr>
            </a:lvl8pPr>
            <a:lvl9pPr>
              <a:defRPr sz="3300" b="1">
                <a:solidFill>
                  <a:srgbClr val="172033"/>
                </a:solidFill>
                <a:latin typeface="Arial"/>
                <a:ea typeface="Arial"/>
                <a:cs typeface="Arial"/>
              </a:defRPr>
            </a:lvl9pPr>
          </a:lstStyle>
          <a:p xmlns:a="http://schemas.openxmlformats.org/drawingml/2006/main">
            <a:pPr>
              <a:defRPr sz="3300" b="1">
                <a:solidFill>
                  <a:srgbClr val="172033"/>
                </a:solidFill>
                <a:latin typeface="Arial"/>
                <a:ea typeface="Arial"/>
                <a:cs typeface="Arial"/>
              </a:defRPr>
            </a:pPr>
            <a:r>
              <a:rPr sz="3300" b="1">
                <a:solidFill>
                  <a:srgbClr val="172033"/>
                </a:solidFill>
                <a:latin typeface="Arial"/>
                <a:ea typeface="Arial"/>
                <a:cs typeface="Arial"/>
              </a:rPr>
              <a:t>Errors and the preserved external failure</a:t>
            </a:r>
          </a:p>
        </p:txBody>
      </p:sp>
      <p:sp>
        <p:nvSpPr>
          <p:cNvPr id="2" name="">
            <a:extLst xmlns:a="http://schemas.openxmlformats.org/drawingml/2006/main">
              <a:ext uri="{FF2B5EF4-FFF2-40B4-BE49-F238E27FC236}">
                <a16:creationId xmlns:a16="http://schemas.microsoft.com/office/drawing/2014/main" id="{3D6F89F9-46C8-4DE5-840F-FD20CD716CA8}"/>
              </a:ext>
            </a:extLst>
          </p:cNvPr>
          <p:cNvSpPr>
            <a:spLocks xmlns:a="http://schemas.openxmlformats.org/drawingml/2006/main" noGrp="1"/>
          </p:cNvSpPr>
          <p:nvPr/>
        </p:nvSpPr>
        <p:spPr>
          <a:xfrm xmlns:a="http://schemas.openxmlformats.org/drawingml/2006/main">
            <a:off x="11239500" y="64008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75569"/>
                </a:solidFill>
                <a:latin typeface="Arial"/>
                <a:ea typeface="Arial"/>
                <a:cs typeface="Arial"/>
              </a:defRPr>
            </a:defPPr>
            <a:lvl1pPr>
              <a:defRPr sz="1350" b="0">
                <a:solidFill>
                  <a:srgbClr val="475569"/>
                </a:solidFill>
                <a:latin typeface="Arial"/>
                <a:ea typeface="Arial"/>
                <a:cs typeface="Arial"/>
              </a:defRPr>
            </a:lvl1pPr>
            <a:lvl2pPr>
              <a:defRPr sz="1350" b="0">
                <a:solidFill>
                  <a:srgbClr val="475569"/>
                </a:solidFill>
                <a:latin typeface="Arial"/>
                <a:ea typeface="Arial"/>
                <a:cs typeface="Arial"/>
              </a:defRPr>
            </a:lvl2pPr>
            <a:lvl3pPr>
              <a:defRPr sz="1350" b="0">
                <a:solidFill>
                  <a:srgbClr val="475569"/>
                </a:solidFill>
                <a:latin typeface="Arial"/>
                <a:ea typeface="Arial"/>
                <a:cs typeface="Arial"/>
              </a:defRPr>
            </a:lvl3pPr>
            <a:lvl4pPr>
              <a:defRPr sz="1350" b="0">
                <a:solidFill>
                  <a:srgbClr val="475569"/>
                </a:solidFill>
                <a:latin typeface="Arial"/>
                <a:ea typeface="Arial"/>
                <a:cs typeface="Arial"/>
              </a:defRPr>
            </a:lvl4pPr>
            <a:lvl5pPr>
              <a:defRPr sz="1350" b="0">
                <a:solidFill>
                  <a:srgbClr val="475569"/>
                </a:solidFill>
                <a:latin typeface="Arial"/>
                <a:ea typeface="Arial"/>
                <a:cs typeface="Arial"/>
              </a:defRPr>
            </a:lvl5pPr>
            <a:lvl6pPr>
              <a:defRPr sz="1350" b="0">
                <a:solidFill>
                  <a:srgbClr val="475569"/>
                </a:solidFill>
                <a:latin typeface="Arial"/>
                <a:ea typeface="Arial"/>
                <a:cs typeface="Arial"/>
              </a:defRPr>
            </a:lvl6pPr>
            <a:lvl7pPr>
              <a:defRPr sz="1350" b="0">
                <a:solidFill>
                  <a:srgbClr val="475569"/>
                </a:solidFill>
                <a:latin typeface="Arial"/>
                <a:ea typeface="Arial"/>
                <a:cs typeface="Arial"/>
              </a:defRPr>
            </a:lvl7pPr>
            <a:lvl8pPr>
              <a:defRPr sz="1350" b="0">
                <a:solidFill>
                  <a:srgbClr val="475569"/>
                </a:solidFill>
                <a:latin typeface="Arial"/>
                <a:ea typeface="Arial"/>
                <a:cs typeface="Arial"/>
              </a:defRPr>
            </a:lvl8pPr>
            <a:lvl9pPr>
              <a:defRPr sz="1350" b="0">
                <a:solidFill>
                  <a:srgbClr val="475569"/>
                </a:solidFill>
                <a:latin typeface="Arial"/>
                <a:ea typeface="Arial"/>
                <a:cs typeface="Arial"/>
              </a:defRPr>
            </a:lvl9pPr>
          </a:lstStyle>
          <a:p xmlns:a="http://schemas.openxmlformats.org/drawingml/2006/main">
            <a:pPr>
              <a:defRPr sz="1350" b="0">
                <a:solidFill>
                  <a:srgbClr val="475569"/>
                </a:solidFill>
                <a:latin typeface="Arial"/>
                <a:ea typeface="Arial"/>
                <a:cs typeface="Arial"/>
              </a:defRPr>
            </a:pPr>
            <a:r>
              <a:rPr sz="1350" b="0">
                <a:solidFill>
                  <a:srgbClr val="475569"/>
                </a:solidFill>
                <a:latin typeface="Arial"/>
                <a:ea typeface="Arial"/>
                <a:cs typeface="Arial"/>
              </a:rPr>
              <a:t>7</a:t>
            </a:r>
          </a:p>
        </p:txBody>
      </p:sp>
      <p:graphicFrame>
        <p:nvGraphicFramePr>
          <p:cNvPr id="3" name="">
            <a:extLst xmlns:a="http://schemas.openxmlformats.org/drawingml/2006/main">
              <a:ext uri="{FF2B5EF4-FFF2-40B4-BE49-F238E27FC236}">
                <a16:creationId xmlns:a16="http://schemas.microsoft.com/office/drawing/2014/main" id="{BCD7A85B-8CE3-4C42-AB9F-6622FF93814B}"/>
              </a:ext>
            </a:extLst>
          </p:cNvPr>
          <p:cNvGraphicFramePr/>
          <p:nvPr/>
        </p:nvGraphicFramePr>
        <p:xfrm>
          <a:off xmlns:a="http://schemas.openxmlformats.org/drawingml/2006/main" x="609600" y="1476375"/>
          <a:ext xmlns:a="http://schemas.openxmlformats.org/drawingml/2006/main" cx="10972800" cy="2095500"/>
        </p:xfrm>
        <a:graphic xmlns:a="http://schemas.openxmlformats.org/drawingml/2006/main">
          <a:graphicData uri="http://schemas.openxmlformats.org/drawingml/2006/table">
            <a:tbl>
              <a:tblPr/>
              <a:tblGrid>
                <a:gridCol w="2857500"/>
                <a:gridCol w="4057650"/>
                <a:gridCol w="4057650"/>
              </a:tblGrid>
              <a:tr h="698500">
                <a:tc>
                  <a:txBody>
                    <a:bodyPr/>
                    <a:lstStyle/>
                    <a:p>
                      <a:r>
                        <a:rPr sz="1875" b="1">
                          <a:solidFill>
                            <a:srgbClr val="172033"/>
                          </a:solidFill>
                          <a:latin typeface="Arial"/>
                          <a:ea typeface="Arial"/>
                          <a:cs typeface="Arial"/>
                        </a:rPr>
                        <a:t>Current development</a:t>
                      </a:r>
                    </a:p>
                  </a:txBody>
                  <a:tcPr marL="91440" marR="91440" marT="45720" marB="45720">
                    <a:lnL w="9525">
                      <a:solidFill>
                        <a:srgbClr val="DCE5EA"/>
                      </a:solidFill>
                      <a:prstDash val="solid"/>
                    </a:lnL>
                    <a:lnR w="9525">
                      <a:solidFill>
                        <a:srgbClr val="DCE5EA"/>
                      </a:solidFill>
                      <a:prstDash val="solid"/>
                    </a:lnR>
                    <a:lnT w="9525">
                      <a:solidFill>
                        <a:srgbClr val="DCE5EA"/>
                      </a:solidFill>
                      <a:prstDash val="solid"/>
                    </a:lnT>
                    <a:lnB w="9525">
                      <a:solidFill>
                        <a:srgbClr val="DCE5EA"/>
                      </a:solidFill>
                      <a:prstDash val="solid"/>
                    </a:lnB>
                    <a:solidFill>
                      <a:srgbClr val="EAF5F2"/>
                    </a:solidFill>
                  </a:tcPr>
                </a:tc>
                <a:tc>
                  <a:txBody>
                    <a:bodyPr/>
                    <a:lstStyle/>
                    <a:p>
                      <a:r>
                        <a:rPr sz="1875" b="1">
                          <a:solidFill>
                            <a:srgbClr val="172033"/>
                          </a:solidFill>
                          <a:latin typeface="Arial"/>
                          <a:ea typeface="Arial"/>
                          <a:cs typeface="Arial"/>
                        </a:rPr>
                        <a:t>Healthy → pathological</a:t>
                      </a:r>
                    </a:p>
                  </a:txBody>
                  <a:tcPr marL="91440" marR="91440" marT="45720" marB="45720">
                    <a:lnR w="9525">
                      <a:solidFill>
                        <a:srgbClr val="DCE5EA"/>
                      </a:solidFill>
                      <a:prstDash val="solid"/>
                    </a:lnR>
                    <a:lnT w="9525">
                      <a:solidFill>
                        <a:srgbClr val="DCE5EA"/>
                      </a:solidFill>
                      <a:prstDash val="solid"/>
                    </a:lnT>
                    <a:lnB w="9525">
                      <a:solidFill>
                        <a:srgbClr val="DCE5EA"/>
                      </a:solidFill>
                      <a:prstDash val="solid"/>
                    </a:lnB>
                    <a:solidFill>
                      <a:srgbClr val="EAF5F2"/>
                    </a:solidFill>
                  </a:tcPr>
                </a:tc>
                <a:tc>
                  <a:txBody>
                    <a:bodyPr/>
                    <a:lstStyle/>
                    <a:p>
                      <a:r>
                        <a:rPr sz="1875" b="1">
                          <a:solidFill>
                            <a:srgbClr val="172033"/>
                          </a:solidFill>
                          <a:latin typeface="Arial"/>
                          <a:ea typeface="Arial"/>
                          <a:cs typeface="Arial"/>
                        </a:rPr>
                        <a:t>Pathological → healthy</a:t>
                      </a:r>
                    </a:p>
                  </a:txBody>
                  <a:tcPr marL="91440" marR="91440" marT="45720" marB="45720">
                    <a:lnR w="9525">
                      <a:solidFill>
                        <a:srgbClr val="DCE5EA"/>
                      </a:solidFill>
                      <a:prstDash val="solid"/>
                    </a:lnR>
                    <a:lnT w="9525">
                      <a:solidFill>
                        <a:srgbClr val="DCE5EA"/>
                      </a:solidFill>
                      <a:prstDash val="solid"/>
                    </a:lnT>
                    <a:lnB w="9525">
                      <a:solidFill>
                        <a:srgbClr val="DCE5EA"/>
                      </a:solidFill>
                      <a:prstDash val="solid"/>
                    </a:lnB>
                    <a:solidFill>
                      <a:srgbClr val="EAF5F2"/>
                    </a:solidFill>
                  </a:tcPr>
                </a:tc>
              </a:tr>
              <a:tr h="698500">
                <a:tc>
                  <a:txBody>
                    <a:bodyPr/>
                    <a:lstStyle/>
                    <a:p>
                      <a:r>
                        <a:rPr sz="1875" b="0">
                          <a:solidFill>
                            <a:srgbClr val="172033"/>
                          </a:solidFill>
                          <a:latin typeface="Arial"/>
                          <a:ea typeface="Arial"/>
                          <a:cs typeface="Arial"/>
                        </a:rPr>
                        <a:t>SVD</a:t>
                      </a:r>
                    </a:p>
                  </a:txBody>
                  <a:tcPr marL="91440" marR="91440" marT="45720" marB="45720">
                    <a:lnL w="9525">
                      <a:solidFill>
                        <a:srgbClr val="DCE5EA"/>
                      </a:solidFill>
                      <a:prstDash val="solid"/>
                    </a:lnL>
                    <a:lnR w="9525">
                      <a:solidFill>
                        <a:srgbClr val="DCE5EA"/>
                      </a:solidFill>
                      <a:prstDash val="solid"/>
                    </a:lnR>
                    <a:lnB w="9525">
                      <a:solidFill>
                        <a:srgbClr val="DCE5EA"/>
                      </a:solidFill>
                      <a:prstDash val="solid"/>
                    </a:lnB>
                    <a:solidFill>
                      <a:srgbClr val="FFFFFF"/>
                    </a:solidFill>
                  </a:tcPr>
                </a:tc>
                <a:tc>
                  <a:txBody>
                    <a:bodyPr/>
                    <a:lstStyle/>
                    <a:p>
                      <a:r>
                        <a:rPr sz="1875" b="0">
                          <a:solidFill>
                            <a:srgbClr val="172033"/>
                          </a:solidFill>
                          <a:latin typeface="Arial"/>
                          <a:ea typeface="Arial"/>
                          <a:cs typeface="Arial"/>
                        </a:rPr>
                        <a:t>148</a:t>
                      </a:r>
                    </a:p>
                  </a:txBody>
                  <a:tcPr marL="91440" marR="91440" marT="45720" marB="45720">
                    <a:lnR w="9525">
                      <a:solidFill>
                        <a:srgbClr val="DCE5EA"/>
                      </a:solidFill>
                      <a:prstDash val="solid"/>
                    </a:lnR>
                    <a:lnB w="9525">
                      <a:solidFill>
                        <a:srgbClr val="DCE5EA"/>
                      </a:solidFill>
                      <a:prstDash val="solid"/>
                    </a:lnB>
                    <a:solidFill>
                      <a:srgbClr val="FFFFFF"/>
                    </a:solidFill>
                  </a:tcPr>
                </a:tc>
                <a:tc>
                  <a:txBody>
                    <a:bodyPr/>
                    <a:lstStyle/>
                    <a:p>
                      <a:r>
                        <a:rPr sz="1875" b="0">
                          <a:solidFill>
                            <a:srgbClr val="172033"/>
                          </a:solidFill>
                          <a:latin typeface="Arial"/>
                          <a:ea typeface="Arial"/>
                          <a:cs typeface="Arial"/>
                        </a:rPr>
                        <a:t>219</a:t>
                      </a:r>
                    </a:p>
                  </a:txBody>
                  <a:tcPr marL="91440" marR="91440" marT="45720" marB="45720">
                    <a:lnR w="9525">
                      <a:solidFill>
                        <a:srgbClr val="DCE5EA"/>
                      </a:solidFill>
                      <a:prstDash val="solid"/>
                    </a:lnR>
                    <a:lnB w="9525">
                      <a:solidFill>
                        <a:srgbClr val="DCE5EA"/>
                      </a:solidFill>
                      <a:prstDash val="solid"/>
                    </a:lnB>
                    <a:solidFill>
                      <a:srgbClr val="FFFFFF"/>
                    </a:solidFill>
                  </a:tcPr>
                </a:tc>
              </a:tr>
              <a:tr h="698500">
                <a:tc>
                  <a:txBody>
                    <a:bodyPr/>
                    <a:lstStyle/>
                    <a:p>
                      <a:r>
                        <a:rPr sz="1875" b="0">
                          <a:solidFill>
                            <a:srgbClr val="172033"/>
                          </a:solidFill>
                          <a:latin typeface="Arial"/>
                          <a:ea typeface="Arial"/>
                          <a:cs typeface="Arial"/>
                        </a:rPr>
                        <a:t>VOICED</a:t>
                      </a:r>
                    </a:p>
                  </a:txBody>
                  <a:tcPr marL="91440" marR="91440" marT="45720" marB="45720">
                    <a:lnL w="9525">
                      <a:solidFill>
                        <a:srgbClr val="DCE5EA"/>
                      </a:solidFill>
                      <a:prstDash val="solid"/>
                    </a:lnL>
                    <a:lnR w="9525">
                      <a:solidFill>
                        <a:srgbClr val="DCE5EA"/>
                      </a:solidFill>
                      <a:prstDash val="solid"/>
                    </a:lnR>
                    <a:lnB w="9525">
                      <a:solidFill>
                        <a:srgbClr val="DCE5EA"/>
                      </a:solidFill>
                      <a:prstDash val="solid"/>
                    </a:lnB>
                    <a:solidFill>
                      <a:srgbClr val="FFFFFF"/>
                    </a:solidFill>
                  </a:tcPr>
                </a:tc>
                <a:tc>
                  <a:txBody>
                    <a:bodyPr/>
                    <a:lstStyle/>
                    <a:p>
                      <a:r>
                        <a:rPr sz="1875" b="0">
                          <a:solidFill>
                            <a:srgbClr val="172033"/>
                          </a:solidFill>
                          <a:latin typeface="Arial"/>
                          <a:ea typeface="Arial"/>
                          <a:cs typeface="Arial"/>
                        </a:rPr>
                        <a:t>21</a:t>
                      </a:r>
                    </a:p>
                  </a:txBody>
                  <a:tcPr marL="91440" marR="91440" marT="45720" marB="45720">
                    <a:lnR w="9525">
                      <a:solidFill>
                        <a:srgbClr val="DCE5EA"/>
                      </a:solidFill>
                      <a:prstDash val="solid"/>
                    </a:lnR>
                    <a:lnB w="9525">
                      <a:solidFill>
                        <a:srgbClr val="DCE5EA"/>
                      </a:solidFill>
                      <a:prstDash val="solid"/>
                    </a:lnB>
                    <a:solidFill>
                      <a:srgbClr val="FFFFFF"/>
                    </a:solidFill>
                  </a:tcPr>
                </a:tc>
                <a:tc>
                  <a:txBody>
                    <a:bodyPr/>
                    <a:lstStyle/>
                    <a:p>
                      <a:r>
                        <a:rPr sz="1875" b="0">
                          <a:solidFill>
                            <a:srgbClr val="172033"/>
                          </a:solidFill>
                          <a:latin typeface="Arial"/>
                          <a:ea typeface="Arial"/>
                          <a:cs typeface="Arial"/>
                        </a:rPr>
                        <a:t>57</a:t>
                      </a:r>
                    </a:p>
                  </a:txBody>
                  <a:tcPr marL="91440" marR="91440" marT="45720" marB="45720">
                    <a:lnR w="9525">
                      <a:solidFill>
                        <a:srgbClr val="DCE5EA"/>
                      </a:solidFill>
                      <a:prstDash val="solid"/>
                    </a:lnR>
                    <a:lnB w="9525">
                      <a:solidFill>
                        <a:srgbClr val="DCE5EA"/>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32CF1E6-D529-442E-B781-C0A87CF881C6}"/>
              </a:ext>
            </a:extLst>
          </p:cNvPr>
          <p:cNvSpPr>
            <a:spLocks xmlns:a="http://schemas.openxmlformats.org/drawingml/2006/main" noGrp="1"/>
          </p:cNvSpPr>
          <p:nvPr/>
        </p:nvSpPr>
        <p:spPr>
          <a:xfrm xmlns:a="http://schemas.openxmlformats.org/drawingml/2006/main">
            <a:off x="609600" y="4191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F766E"/>
                </a:solidFill>
                <a:latin typeface="Arial"/>
                <a:ea typeface="Arial"/>
                <a:cs typeface="Arial"/>
              </a:defRPr>
            </a:defPPr>
            <a:lvl1pPr>
              <a:defRPr sz="2550" b="1">
                <a:solidFill>
                  <a:srgbClr val="0F766E"/>
                </a:solidFill>
                <a:latin typeface="Arial"/>
                <a:ea typeface="Arial"/>
                <a:cs typeface="Arial"/>
              </a:defRPr>
            </a:lvl1pPr>
            <a:lvl2pPr>
              <a:defRPr sz="2550" b="1">
                <a:solidFill>
                  <a:srgbClr val="0F766E"/>
                </a:solidFill>
                <a:latin typeface="Arial"/>
                <a:ea typeface="Arial"/>
                <a:cs typeface="Arial"/>
              </a:defRPr>
            </a:lvl2pPr>
            <a:lvl3pPr>
              <a:defRPr sz="2550" b="1">
                <a:solidFill>
                  <a:srgbClr val="0F766E"/>
                </a:solidFill>
                <a:latin typeface="Arial"/>
                <a:ea typeface="Arial"/>
                <a:cs typeface="Arial"/>
              </a:defRPr>
            </a:lvl3pPr>
            <a:lvl4pPr>
              <a:defRPr sz="2550" b="1">
                <a:solidFill>
                  <a:srgbClr val="0F766E"/>
                </a:solidFill>
                <a:latin typeface="Arial"/>
                <a:ea typeface="Arial"/>
                <a:cs typeface="Arial"/>
              </a:defRPr>
            </a:lvl4pPr>
            <a:lvl5pPr>
              <a:defRPr sz="2550" b="1">
                <a:solidFill>
                  <a:srgbClr val="0F766E"/>
                </a:solidFill>
                <a:latin typeface="Arial"/>
                <a:ea typeface="Arial"/>
                <a:cs typeface="Arial"/>
              </a:defRPr>
            </a:lvl5pPr>
            <a:lvl6pPr>
              <a:defRPr sz="2550" b="1">
                <a:solidFill>
                  <a:srgbClr val="0F766E"/>
                </a:solidFill>
                <a:latin typeface="Arial"/>
                <a:ea typeface="Arial"/>
                <a:cs typeface="Arial"/>
              </a:defRPr>
            </a:lvl6pPr>
            <a:lvl7pPr>
              <a:defRPr sz="2550" b="1">
                <a:solidFill>
                  <a:srgbClr val="0F766E"/>
                </a:solidFill>
                <a:latin typeface="Arial"/>
                <a:ea typeface="Arial"/>
                <a:cs typeface="Arial"/>
              </a:defRPr>
            </a:lvl7pPr>
            <a:lvl8pPr>
              <a:defRPr sz="2550" b="1">
                <a:solidFill>
                  <a:srgbClr val="0F766E"/>
                </a:solidFill>
                <a:latin typeface="Arial"/>
                <a:ea typeface="Arial"/>
                <a:cs typeface="Arial"/>
              </a:defRPr>
            </a:lvl8pPr>
            <a:lvl9pPr>
              <a:defRPr sz="2550" b="1">
                <a:solidFill>
                  <a:srgbClr val="0F766E"/>
                </a:solidFill>
                <a:latin typeface="Arial"/>
                <a:ea typeface="Arial"/>
                <a:cs typeface="Arial"/>
              </a:defRPr>
            </a:lvl9pPr>
          </a:lstStyle>
          <a:p xmlns:a="http://schemas.openxmlformats.org/drawingml/2006/main">
            <a:pPr>
              <a:defRPr sz="2550" b="1">
                <a:solidFill>
                  <a:srgbClr val="0F766E"/>
                </a:solidFill>
                <a:latin typeface="Arial"/>
                <a:ea typeface="Arial"/>
                <a:cs typeface="Arial"/>
              </a:defRPr>
            </a:pPr>
            <a:r>
              <a:rPr sz="2550" b="1">
                <a:solidFill>
                  <a:srgbClr val="0F766E"/>
                </a:solidFill>
                <a:latin typeface="Arial"/>
                <a:ea typeface="Arial"/>
                <a:cs typeface="Arial"/>
              </a:rPr>
              <a:t>Historical v2 external test: 4 / 30 pathological cases detected</a:t>
            </a:r>
          </a:p>
        </p:txBody>
      </p:sp>
      <p:sp>
        <p:nvSpPr>
          <p:cNvPr id="5" name="">
            <a:extLst xmlns:a="http://schemas.openxmlformats.org/drawingml/2006/main">
              <a:ext uri="{FF2B5EF4-FFF2-40B4-BE49-F238E27FC236}">
                <a16:creationId xmlns:a16="http://schemas.microsoft.com/office/drawing/2014/main" id="{49D0AC57-A68F-494A-990F-E9699B29CF20}"/>
              </a:ext>
            </a:extLst>
          </p:cNvPr>
          <p:cNvSpPr>
            <a:spLocks xmlns:a="http://schemas.openxmlformats.org/drawingml/2006/main" noGrp="1"/>
          </p:cNvSpPr>
          <p:nvPr/>
        </p:nvSpPr>
        <p:spPr>
          <a:xfrm xmlns:a="http://schemas.openxmlformats.org/drawingml/2006/main">
            <a:off x="609600" y="53340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475569"/>
                </a:solidFill>
                <a:latin typeface="Arial"/>
                <a:ea typeface="Arial"/>
                <a:cs typeface="Arial"/>
              </a:defRPr>
            </a:defPPr>
            <a:lvl1pPr>
              <a:defRPr sz="2025" b="0">
                <a:solidFill>
                  <a:srgbClr val="475569"/>
                </a:solidFill>
                <a:latin typeface="Arial"/>
                <a:ea typeface="Arial"/>
                <a:cs typeface="Arial"/>
              </a:defRPr>
            </a:lvl1pPr>
            <a:lvl2pPr>
              <a:defRPr sz="2025" b="0">
                <a:solidFill>
                  <a:srgbClr val="475569"/>
                </a:solidFill>
                <a:latin typeface="Arial"/>
                <a:ea typeface="Arial"/>
                <a:cs typeface="Arial"/>
              </a:defRPr>
            </a:lvl2pPr>
            <a:lvl3pPr>
              <a:defRPr sz="2025" b="0">
                <a:solidFill>
                  <a:srgbClr val="475569"/>
                </a:solidFill>
                <a:latin typeface="Arial"/>
                <a:ea typeface="Arial"/>
                <a:cs typeface="Arial"/>
              </a:defRPr>
            </a:lvl3pPr>
            <a:lvl4pPr>
              <a:defRPr sz="2025" b="0">
                <a:solidFill>
                  <a:srgbClr val="475569"/>
                </a:solidFill>
                <a:latin typeface="Arial"/>
                <a:ea typeface="Arial"/>
                <a:cs typeface="Arial"/>
              </a:defRPr>
            </a:lvl4pPr>
            <a:lvl5pPr>
              <a:defRPr sz="2025" b="0">
                <a:solidFill>
                  <a:srgbClr val="475569"/>
                </a:solidFill>
                <a:latin typeface="Arial"/>
                <a:ea typeface="Arial"/>
                <a:cs typeface="Arial"/>
              </a:defRPr>
            </a:lvl5pPr>
            <a:lvl6pPr>
              <a:defRPr sz="2025" b="0">
                <a:solidFill>
                  <a:srgbClr val="475569"/>
                </a:solidFill>
                <a:latin typeface="Arial"/>
                <a:ea typeface="Arial"/>
                <a:cs typeface="Arial"/>
              </a:defRPr>
            </a:lvl6pPr>
            <a:lvl7pPr>
              <a:defRPr sz="2025" b="0">
                <a:solidFill>
                  <a:srgbClr val="475569"/>
                </a:solidFill>
                <a:latin typeface="Arial"/>
                <a:ea typeface="Arial"/>
                <a:cs typeface="Arial"/>
              </a:defRPr>
            </a:lvl7pPr>
            <a:lvl8pPr>
              <a:defRPr sz="2025" b="0">
                <a:solidFill>
                  <a:srgbClr val="475569"/>
                </a:solidFill>
                <a:latin typeface="Arial"/>
                <a:ea typeface="Arial"/>
                <a:cs typeface="Arial"/>
              </a:defRPr>
            </a:lvl8pPr>
            <a:lvl9pPr>
              <a:defRPr sz="2025" b="0">
                <a:solidFill>
                  <a:srgbClr val="475569"/>
                </a:solidFill>
                <a:latin typeface="Arial"/>
                <a:ea typeface="Arial"/>
                <a:cs typeface="Arial"/>
              </a:defRPr>
            </a:lvl9pPr>
          </a:lstStyle>
          <a:p xmlns:a="http://schemas.openxmlformats.org/drawingml/2006/main">
            <a:pPr>
              <a:defRPr sz="2025" b="0">
                <a:solidFill>
                  <a:srgbClr val="475569"/>
                </a:solidFill>
                <a:latin typeface="Arial"/>
                <a:ea typeface="Arial"/>
                <a:cs typeface="Arial"/>
              </a:defRPr>
            </a:pPr>
            <a:r>
              <a:rPr sz="2025" b="0">
                <a:solidFill>
                  <a:srgbClr val="475569"/>
                </a:solidFill>
                <a:latin typeface="Arial"/>
                <a:ea typeface="Arial"/>
                <a:cs typeface="Arial"/>
              </a:rPr>
              <a:t>Balanced accuracy: 52.5%. The failed test remains unchanged.</a:t>
            </a:r>
          </a:p>
          <a:p xmlns:a="http://schemas.openxmlformats.org/drawingml/2006/main">
            <a:pPr>
              <a:defRPr sz="2025" b="0">
                <a:solidFill>
                  <a:srgbClr val="475569"/>
                </a:solidFill>
                <a:latin typeface="Arial"/>
                <a:ea typeface="Arial"/>
                <a:cs typeface="Arial"/>
              </a:defRPr>
            </a:pPr>
            <a:r>
              <a:rPr sz="2025" b="0">
                <a:solidFill>
                  <a:srgbClr val="475569"/>
                </a:solidFill>
                <a:latin typeface="Arial"/>
                <a:ea typeface="Arial"/>
                <a:cs typeface="Arial"/>
              </a:rPr>
              <a:t>New VOICED results are development evidence, not a fresh test.</a:t>
            </a:r>
          </a:p>
        </p:txBody>
      </p:sp>
    </p:spTree>
    <p:extLst>
      <p:ext uri="{BB962C8B-B14F-4D97-AF65-F5344CB8AC3E}">
        <p14:creationId xmlns:p14="http://schemas.microsoft.com/office/powerpoint/2010/main" val="95130929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933D6AB-9E33-4D1C-9CB9-C5585011CAF8}"/>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033"/>
                </a:solidFill>
                <a:latin typeface="Arial"/>
                <a:ea typeface="Arial"/>
                <a:cs typeface="Arial"/>
              </a:defRPr>
            </a:defPPr>
            <a:lvl1pPr>
              <a:defRPr sz="3300" b="1">
                <a:solidFill>
                  <a:srgbClr val="172033"/>
                </a:solidFill>
                <a:latin typeface="Arial"/>
                <a:ea typeface="Arial"/>
                <a:cs typeface="Arial"/>
              </a:defRPr>
            </a:lvl1pPr>
            <a:lvl2pPr>
              <a:defRPr sz="3300" b="1">
                <a:solidFill>
                  <a:srgbClr val="172033"/>
                </a:solidFill>
                <a:latin typeface="Arial"/>
                <a:ea typeface="Arial"/>
                <a:cs typeface="Arial"/>
              </a:defRPr>
            </a:lvl2pPr>
            <a:lvl3pPr>
              <a:defRPr sz="3300" b="1">
                <a:solidFill>
                  <a:srgbClr val="172033"/>
                </a:solidFill>
                <a:latin typeface="Arial"/>
                <a:ea typeface="Arial"/>
                <a:cs typeface="Arial"/>
              </a:defRPr>
            </a:lvl3pPr>
            <a:lvl4pPr>
              <a:defRPr sz="3300" b="1">
                <a:solidFill>
                  <a:srgbClr val="172033"/>
                </a:solidFill>
                <a:latin typeface="Arial"/>
                <a:ea typeface="Arial"/>
                <a:cs typeface="Arial"/>
              </a:defRPr>
            </a:lvl4pPr>
            <a:lvl5pPr>
              <a:defRPr sz="3300" b="1">
                <a:solidFill>
                  <a:srgbClr val="172033"/>
                </a:solidFill>
                <a:latin typeface="Arial"/>
                <a:ea typeface="Arial"/>
                <a:cs typeface="Arial"/>
              </a:defRPr>
            </a:lvl5pPr>
            <a:lvl6pPr>
              <a:defRPr sz="3300" b="1">
                <a:solidFill>
                  <a:srgbClr val="172033"/>
                </a:solidFill>
                <a:latin typeface="Arial"/>
                <a:ea typeface="Arial"/>
                <a:cs typeface="Arial"/>
              </a:defRPr>
            </a:lvl6pPr>
            <a:lvl7pPr>
              <a:defRPr sz="3300" b="1">
                <a:solidFill>
                  <a:srgbClr val="172033"/>
                </a:solidFill>
                <a:latin typeface="Arial"/>
                <a:ea typeface="Arial"/>
                <a:cs typeface="Arial"/>
              </a:defRPr>
            </a:lvl7pPr>
            <a:lvl8pPr>
              <a:defRPr sz="3300" b="1">
                <a:solidFill>
                  <a:srgbClr val="172033"/>
                </a:solidFill>
                <a:latin typeface="Arial"/>
                <a:ea typeface="Arial"/>
                <a:cs typeface="Arial"/>
              </a:defRPr>
            </a:lvl8pPr>
            <a:lvl9pPr>
              <a:defRPr sz="3300" b="1">
                <a:solidFill>
                  <a:srgbClr val="172033"/>
                </a:solidFill>
                <a:latin typeface="Arial"/>
                <a:ea typeface="Arial"/>
                <a:cs typeface="Arial"/>
              </a:defRPr>
            </a:lvl9pPr>
          </a:lstStyle>
          <a:p xmlns:a="http://schemas.openxmlformats.org/drawingml/2006/main">
            <a:pPr>
              <a:defRPr sz="3300" b="1">
                <a:solidFill>
                  <a:srgbClr val="172033"/>
                </a:solidFill>
                <a:latin typeface="Arial"/>
                <a:ea typeface="Arial"/>
                <a:cs typeface="Arial"/>
              </a:defRPr>
            </a:pPr>
            <a:r>
              <a:rPr sz="3300" b="1">
                <a:solidFill>
                  <a:srgbClr val="172033"/>
                </a:solidFill>
                <a:latin typeface="Arial"/>
                <a:ea typeface="Arial"/>
                <a:cs typeface="Arial"/>
              </a:rPr>
              <a:t>Uncertainty and limits</a:t>
            </a:r>
          </a:p>
        </p:txBody>
      </p:sp>
      <p:sp>
        <p:nvSpPr>
          <p:cNvPr id="2" name="">
            <a:extLst xmlns:a="http://schemas.openxmlformats.org/drawingml/2006/main">
              <a:ext uri="{FF2B5EF4-FFF2-40B4-BE49-F238E27FC236}">
                <a16:creationId xmlns:a16="http://schemas.microsoft.com/office/drawing/2014/main" id="{F00F9F3D-B44B-4664-860A-38E3441AFBDE}"/>
              </a:ext>
            </a:extLst>
          </p:cNvPr>
          <p:cNvSpPr>
            <a:spLocks xmlns:a="http://schemas.openxmlformats.org/drawingml/2006/main" noGrp="1"/>
          </p:cNvSpPr>
          <p:nvPr/>
        </p:nvSpPr>
        <p:spPr>
          <a:xfrm xmlns:a="http://schemas.openxmlformats.org/drawingml/2006/main">
            <a:off x="11239500" y="64008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75569"/>
                </a:solidFill>
                <a:latin typeface="Arial"/>
                <a:ea typeface="Arial"/>
                <a:cs typeface="Arial"/>
              </a:defRPr>
            </a:defPPr>
            <a:lvl1pPr>
              <a:defRPr sz="1350" b="0">
                <a:solidFill>
                  <a:srgbClr val="475569"/>
                </a:solidFill>
                <a:latin typeface="Arial"/>
                <a:ea typeface="Arial"/>
                <a:cs typeface="Arial"/>
              </a:defRPr>
            </a:lvl1pPr>
            <a:lvl2pPr>
              <a:defRPr sz="1350" b="0">
                <a:solidFill>
                  <a:srgbClr val="475569"/>
                </a:solidFill>
                <a:latin typeface="Arial"/>
                <a:ea typeface="Arial"/>
                <a:cs typeface="Arial"/>
              </a:defRPr>
            </a:lvl2pPr>
            <a:lvl3pPr>
              <a:defRPr sz="1350" b="0">
                <a:solidFill>
                  <a:srgbClr val="475569"/>
                </a:solidFill>
                <a:latin typeface="Arial"/>
                <a:ea typeface="Arial"/>
                <a:cs typeface="Arial"/>
              </a:defRPr>
            </a:lvl3pPr>
            <a:lvl4pPr>
              <a:defRPr sz="1350" b="0">
                <a:solidFill>
                  <a:srgbClr val="475569"/>
                </a:solidFill>
                <a:latin typeface="Arial"/>
                <a:ea typeface="Arial"/>
                <a:cs typeface="Arial"/>
              </a:defRPr>
            </a:lvl4pPr>
            <a:lvl5pPr>
              <a:defRPr sz="1350" b="0">
                <a:solidFill>
                  <a:srgbClr val="475569"/>
                </a:solidFill>
                <a:latin typeface="Arial"/>
                <a:ea typeface="Arial"/>
                <a:cs typeface="Arial"/>
              </a:defRPr>
            </a:lvl5pPr>
            <a:lvl6pPr>
              <a:defRPr sz="1350" b="0">
                <a:solidFill>
                  <a:srgbClr val="475569"/>
                </a:solidFill>
                <a:latin typeface="Arial"/>
                <a:ea typeface="Arial"/>
                <a:cs typeface="Arial"/>
              </a:defRPr>
            </a:lvl6pPr>
            <a:lvl7pPr>
              <a:defRPr sz="1350" b="0">
                <a:solidFill>
                  <a:srgbClr val="475569"/>
                </a:solidFill>
                <a:latin typeface="Arial"/>
                <a:ea typeface="Arial"/>
                <a:cs typeface="Arial"/>
              </a:defRPr>
            </a:lvl7pPr>
            <a:lvl8pPr>
              <a:defRPr sz="1350" b="0">
                <a:solidFill>
                  <a:srgbClr val="475569"/>
                </a:solidFill>
                <a:latin typeface="Arial"/>
                <a:ea typeface="Arial"/>
                <a:cs typeface="Arial"/>
              </a:defRPr>
            </a:lvl8pPr>
            <a:lvl9pPr>
              <a:defRPr sz="1350" b="0">
                <a:solidFill>
                  <a:srgbClr val="475569"/>
                </a:solidFill>
                <a:latin typeface="Arial"/>
                <a:ea typeface="Arial"/>
                <a:cs typeface="Arial"/>
              </a:defRPr>
            </a:lvl9pPr>
          </a:lstStyle>
          <a:p xmlns:a="http://schemas.openxmlformats.org/drawingml/2006/main">
            <a:pPr>
              <a:defRPr sz="1350" b="0">
                <a:solidFill>
                  <a:srgbClr val="475569"/>
                </a:solidFill>
                <a:latin typeface="Arial"/>
                <a:ea typeface="Arial"/>
                <a:cs typeface="Arial"/>
              </a:defRPr>
            </a:pPr>
            <a:r>
              <a:rPr sz="1350" b="0">
                <a:solidFill>
                  <a:srgbClr val="475569"/>
                </a:solidFill>
                <a:latin typeface="Arial"/>
                <a:ea typeface="Arial"/>
                <a:cs typeface="Arial"/>
              </a:rPr>
              <a:t>8</a:t>
            </a:r>
          </a:p>
        </p:txBody>
      </p:sp>
      <p:sp>
        <p:nvSpPr>
          <p:cNvPr id="3" name="">
            <a:extLst xmlns:a="http://schemas.openxmlformats.org/drawingml/2006/main">
              <a:ext uri="{FF2B5EF4-FFF2-40B4-BE49-F238E27FC236}">
                <a16:creationId xmlns:a16="http://schemas.microsoft.com/office/drawing/2014/main" id="{ECBAFD35-6934-4AF9-B47C-F920309128B6}"/>
              </a:ext>
            </a:extLst>
          </p:cNvPr>
          <p:cNvSpPr>
            <a:spLocks xmlns:a="http://schemas.openxmlformats.org/drawingml/2006/main" noGrp="1"/>
          </p:cNvSpPr>
          <p:nvPr/>
        </p:nvSpPr>
        <p:spPr>
          <a:xfrm xmlns:a="http://schemas.openxmlformats.org/drawingml/2006/main">
            <a:off x="609600" y="14763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0F766E"/>
                </a:solidFill>
                <a:latin typeface="Arial"/>
                <a:ea typeface="Arial"/>
                <a:cs typeface="Arial"/>
              </a:defRPr>
            </a:defPPr>
            <a:lvl1pPr>
              <a:defRPr sz="2625" b="1">
                <a:solidFill>
                  <a:srgbClr val="0F766E"/>
                </a:solidFill>
                <a:latin typeface="Arial"/>
                <a:ea typeface="Arial"/>
                <a:cs typeface="Arial"/>
              </a:defRPr>
            </a:lvl1pPr>
            <a:lvl2pPr>
              <a:defRPr sz="2625" b="1">
                <a:solidFill>
                  <a:srgbClr val="0F766E"/>
                </a:solidFill>
                <a:latin typeface="Arial"/>
                <a:ea typeface="Arial"/>
                <a:cs typeface="Arial"/>
              </a:defRPr>
            </a:lvl2pPr>
            <a:lvl3pPr>
              <a:defRPr sz="2625" b="1">
                <a:solidFill>
                  <a:srgbClr val="0F766E"/>
                </a:solidFill>
                <a:latin typeface="Arial"/>
                <a:ea typeface="Arial"/>
                <a:cs typeface="Arial"/>
              </a:defRPr>
            </a:lvl3pPr>
            <a:lvl4pPr>
              <a:defRPr sz="2625" b="1">
                <a:solidFill>
                  <a:srgbClr val="0F766E"/>
                </a:solidFill>
                <a:latin typeface="Arial"/>
                <a:ea typeface="Arial"/>
                <a:cs typeface="Arial"/>
              </a:defRPr>
            </a:lvl4pPr>
            <a:lvl5pPr>
              <a:defRPr sz="2625" b="1">
                <a:solidFill>
                  <a:srgbClr val="0F766E"/>
                </a:solidFill>
                <a:latin typeface="Arial"/>
                <a:ea typeface="Arial"/>
                <a:cs typeface="Arial"/>
              </a:defRPr>
            </a:lvl5pPr>
            <a:lvl6pPr>
              <a:defRPr sz="2625" b="1">
                <a:solidFill>
                  <a:srgbClr val="0F766E"/>
                </a:solidFill>
                <a:latin typeface="Arial"/>
                <a:ea typeface="Arial"/>
                <a:cs typeface="Arial"/>
              </a:defRPr>
            </a:lvl6pPr>
            <a:lvl7pPr>
              <a:defRPr sz="2625" b="1">
                <a:solidFill>
                  <a:srgbClr val="0F766E"/>
                </a:solidFill>
                <a:latin typeface="Arial"/>
                <a:ea typeface="Arial"/>
                <a:cs typeface="Arial"/>
              </a:defRPr>
            </a:lvl7pPr>
            <a:lvl8pPr>
              <a:defRPr sz="2625" b="1">
                <a:solidFill>
                  <a:srgbClr val="0F766E"/>
                </a:solidFill>
                <a:latin typeface="Arial"/>
                <a:ea typeface="Arial"/>
                <a:cs typeface="Arial"/>
              </a:defRPr>
            </a:lvl8pPr>
            <a:lvl9pPr>
              <a:defRPr sz="2625" b="1">
                <a:solidFill>
                  <a:srgbClr val="0F766E"/>
                </a:solidFill>
                <a:latin typeface="Arial"/>
                <a:ea typeface="Arial"/>
                <a:cs typeface="Arial"/>
              </a:defRPr>
            </a:lvl9pPr>
          </a:lstStyle>
          <a:p xmlns:a="http://schemas.openxmlformats.org/drawingml/2006/main">
            <a:pPr>
              <a:defRPr sz="2625" b="1">
                <a:solidFill>
                  <a:srgbClr val="0F766E"/>
                </a:solidFill>
                <a:latin typeface="Arial"/>
                <a:ea typeface="Arial"/>
                <a:cs typeface="Arial"/>
              </a:defRPr>
            </a:pPr>
            <a:r>
              <a:rPr sz="2625" b="1">
                <a:solidFill>
                  <a:srgbClr val="0F766E"/>
                </a:solidFill>
                <a:latin typeface="Arial"/>
                <a:ea typeface="Arial"/>
                <a:cs typeface="Arial"/>
              </a:rPr>
              <a:t>No qualifying threshold: all binary outputs remain uncertain.</a:t>
            </a:r>
          </a:p>
        </p:txBody>
      </p:sp>
      <p:sp>
        <p:nvSpPr>
          <p:cNvPr id="4" name="">
            <a:extLst xmlns:a="http://schemas.openxmlformats.org/drawingml/2006/main">
              <a:ext uri="{FF2B5EF4-FFF2-40B4-BE49-F238E27FC236}">
                <a16:creationId xmlns:a16="http://schemas.microsoft.com/office/drawing/2014/main" id="{A82C44A8-617D-44CC-A56B-219EA643FBB8}"/>
              </a:ext>
            </a:extLst>
          </p:cNvPr>
          <p:cNvSpPr>
            <a:spLocks xmlns:a="http://schemas.openxmlformats.org/drawingml/2006/main" noGrp="1"/>
          </p:cNvSpPr>
          <p:nvPr/>
        </p:nvSpPr>
        <p:spPr>
          <a:xfrm xmlns:a="http://schemas.openxmlformats.org/drawingml/2006/main">
            <a:off x="609600" y="3048000"/>
            <a:ext cx="109728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2033"/>
                </a:solidFill>
                <a:latin typeface="Arial"/>
                <a:ea typeface="Arial"/>
                <a:cs typeface="Arial"/>
              </a:defRPr>
            </a:defPPr>
            <a:lvl1pPr>
              <a:defRPr sz="2250" b="0">
                <a:solidFill>
                  <a:srgbClr val="172033"/>
                </a:solidFill>
                <a:latin typeface="Arial"/>
                <a:ea typeface="Arial"/>
                <a:cs typeface="Arial"/>
              </a:defRPr>
            </a:lvl1pPr>
            <a:lvl2pPr>
              <a:defRPr sz="2250" b="0">
                <a:solidFill>
                  <a:srgbClr val="172033"/>
                </a:solidFill>
                <a:latin typeface="Arial"/>
                <a:ea typeface="Arial"/>
                <a:cs typeface="Arial"/>
              </a:defRPr>
            </a:lvl2pPr>
            <a:lvl3pPr>
              <a:defRPr sz="2250" b="0">
                <a:solidFill>
                  <a:srgbClr val="172033"/>
                </a:solidFill>
                <a:latin typeface="Arial"/>
                <a:ea typeface="Arial"/>
                <a:cs typeface="Arial"/>
              </a:defRPr>
            </a:lvl3pPr>
            <a:lvl4pPr>
              <a:defRPr sz="2250" b="0">
                <a:solidFill>
                  <a:srgbClr val="172033"/>
                </a:solidFill>
                <a:latin typeface="Arial"/>
                <a:ea typeface="Arial"/>
                <a:cs typeface="Arial"/>
              </a:defRPr>
            </a:lvl4pPr>
            <a:lvl5pPr>
              <a:defRPr sz="2250" b="0">
                <a:solidFill>
                  <a:srgbClr val="172033"/>
                </a:solidFill>
                <a:latin typeface="Arial"/>
                <a:ea typeface="Arial"/>
                <a:cs typeface="Arial"/>
              </a:defRPr>
            </a:lvl5pPr>
            <a:lvl6pPr>
              <a:defRPr sz="2250" b="0">
                <a:solidFill>
                  <a:srgbClr val="172033"/>
                </a:solidFill>
                <a:latin typeface="Arial"/>
                <a:ea typeface="Arial"/>
                <a:cs typeface="Arial"/>
              </a:defRPr>
            </a:lvl6pPr>
            <a:lvl7pPr>
              <a:defRPr sz="2250" b="0">
                <a:solidFill>
                  <a:srgbClr val="172033"/>
                </a:solidFill>
                <a:latin typeface="Arial"/>
                <a:ea typeface="Arial"/>
                <a:cs typeface="Arial"/>
              </a:defRPr>
            </a:lvl7pPr>
            <a:lvl8pPr>
              <a:defRPr sz="2250" b="0">
                <a:solidFill>
                  <a:srgbClr val="172033"/>
                </a:solidFill>
                <a:latin typeface="Arial"/>
                <a:ea typeface="Arial"/>
                <a:cs typeface="Arial"/>
              </a:defRPr>
            </a:lvl8pPr>
            <a:lvl9pPr>
              <a:defRPr sz="2250" b="0">
                <a:solidFill>
                  <a:srgbClr val="172033"/>
                </a:solidFill>
                <a:latin typeface="Arial"/>
                <a:ea typeface="Arial"/>
                <a:cs typeface="Arial"/>
              </a:defRPr>
            </a:lvl9pPr>
          </a:lstStyle>
          <a:p xmlns:a="http://schemas.openxmlformats.org/drawingml/2006/main">
            <a:pPr>
              <a:defRPr sz="2250" b="0">
                <a:solidFill>
                  <a:srgbClr val="172033"/>
                </a:solidFill>
                <a:latin typeface="Arial"/>
                <a:ea typeface="Arial"/>
                <a:cs typeface="Arial"/>
              </a:defRPr>
            </a:pPr>
            <a:r>
              <a:rPr sz="2250" b="0">
                <a:solidFill>
                  <a:srgbClr val="172033"/>
                </a:solidFill>
                <a:latin typeface="Arial"/>
                <a:ea typeface="Arial"/>
                <a:cs typeface="Arial"/>
              </a:rPr>
              <a:t>Outer-fold accepted coverage: SVD 19.39%; VOICED 12.98%.</a:t>
            </a:r>
          </a:p>
          <a:p xmlns:a="http://schemas.openxmlformats.org/drawingml/2006/main">
            <a:pPr>
              <a:defRPr sz="2250" b="0">
                <a:solidFill>
                  <a:srgbClr val="172033"/>
                </a:solidFill>
                <a:latin typeface="Arial"/>
                <a:ea typeface="Arial"/>
                <a:cs typeface="Arial"/>
              </a:defRPr>
            </a:pPr>
            <a:r>
              <a:rPr sz="2250" b="0">
                <a:solidFill>
                  <a:srgbClr val="172033"/>
                </a:solidFill>
                <a:latin typeface="Arial"/>
                <a:ea typeface="Arial"/>
                <a:cs typeface="Arial"/>
              </a:rPr>
              <a:t>Subtype rankings are always uncertain.</a:t>
            </a:r>
          </a:p>
          <a:p xmlns:a="http://schemas.openxmlformats.org/drawingml/2006/main">
            <a:pPr>
              <a:defRPr sz="2250" b="0">
                <a:solidFill>
                  <a:srgbClr val="172033"/>
                </a:solidFill>
                <a:latin typeface="Arial"/>
                <a:ea typeface="Arial"/>
                <a:cs typeface="Arial"/>
              </a:defRPr>
            </a:pPr>
            <a:r>
              <a:rPr sz="2250" b="0">
                <a:solidFill>
                  <a:srgbClr val="172033"/>
                </a:solidFill>
                <a:latin typeface="Arial"/>
                <a:ea typeface="Arial"/>
                <a:cs typeface="Arial"/>
              </a:rPr>
              <a:t>A high model score is not a medical probability.</a:t>
            </a:r>
          </a:p>
        </p:txBody>
      </p:sp>
      <p:sp>
        <p:nvSpPr>
          <p:cNvPr id="5" name="">
            <a:extLst xmlns:a="http://schemas.openxmlformats.org/drawingml/2006/main">
              <a:ext uri="{FF2B5EF4-FFF2-40B4-BE49-F238E27FC236}">
                <a16:creationId xmlns:a16="http://schemas.microsoft.com/office/drawing/2014/main" id="{FC8C84D1-D99D-4F79-8BAD-ED2199EF2034}"/>
              </a:ext>
            </a:extLst>
          </p:cNvPr>
          <p:cNvSpPr>
            <a:spLocks xmlns:a="http://schemas.openxmlformats.org/drawingml/2006/main" noGrp="1"/>
          </p:cNvSpPr>
          <p:nvPr/>
        </p:nvSpPr>
        <p:spPr>
          <a:xfrm xmlns:a="http://schemas.openxmlformats.org/drawingml/2006/main">
            <a:off x="609600" y="52387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475569"/>
                </a:solidFill>
                <a:latin typeface="Arial"/>
                <a:ea typeface="Arial"/>
                <a:cs typeface="Arial"/>
              </a:defRPr>
            </a:defPPr>
            <a:lvl1pPr>
              <a:defRPr sz="2025" b="0">
                <a:solidFill>
                  <a:srgbClr val="475569"/>
                </a:solidFill>
                <a:latin typeface="Arial"/>
                <a:ea typeface="Arial"/>
                <a:cs typeface="Arial"/>
              </a:defRPr>
            </a:lvl1pPr>
            <a:lvl2pPr>
              <a:defRPr sz="2025" b="0">
                <a:solidFill>
                  <a:srgbClr val="475569"/>
                </a:solidFill>
                <a:latin typeface="Arial"/>
                <a:ea typeface="Arial"/>
                <a:cs typeface="Arial"/>
              </a:defRPr>
            </a:lvl2pPr>
            <a:lvl3pPr>
              <a:defRPr sz="2025" b="0">
                <a:solidFill>
                  <a:srgbClr val="475569"/>
                </a:solidFill>
                <a:latin typeface="Arial"/>
                <a:ea typeface="Arial"/>
                <a:cs typeface="Arial"/>
              </a:defRPr>
            </a:lvl3pPr>
            <a:lvl4pPr>
              <a:defRPr sz="2025" b="0">
                <a:solidFill>
                  <a:srgbClr val="475569"/>
                </a:solidFill>
                <a:latin typeface="Arial"/>
                <a:ea typeface="Arial"/>
                <a:cs typeface="Arial"/>
              </a:defRPr>
            </a:lvl4pPr>
            <a:lvl5pPr>
              <a:defRPr sz="2025" b="0">
                <a:solidFill>
                  <a:srgbClr val="475569"/>
                </a:solidFill>
                <a:latin typeface="Arial"/>
                <a:ea typeface="Arial"/>
                <a:cs typeface="Arial"/>
              </a:defRPr>
            </a:lvl5pPr>
            <a:lvl6pPr>
              <a:defRPr sz="2025" b="0">
                <a:solidFill>
                  <a:srgbClr val="475569"/>
                </a:solidFill>
                <a:latin typeface="Arial"/>
                <a:ea typeface="Arial"/>
                <a:cs typeface="Arial"/>
              </a:defRPr>
            </a:lvl6pPr>
            <a:lvl7pPr>
              <a:defRPr sz="2025" b="0">
                <a:solidFill>
                  <a:srgbClr val="475569"/>
                </a:solidFill>
                <a:latin typeface="Arial"/>
                <a:ea typeface="Arial"/>
                <a:cs typeface="Arial"/>
              </a:defRPr>
            </a:lvl7pPr>
            <a:lvl8pPr>
              <a:defRPr sz="2025" b="0">
                <a:solidFill>
                  <a:srgbClr val="475569"/>
                </a:solidFill>
                <a:latin typeface="Arial"/>
                <a:ea typeface="Arial"/>
                <a:cs typeface="Arial"/>
              </a:defRPr>
            </a:lvl8pPr>
            <a:lvl9pPr>
              <a:defRPr sz="2025" b="0">
                <a:solidFill>
                  <a:srgbClr val="475569"/>
                </a:solidFill>
                <a:latin typeface="Arial"/>
                <a:ea typeface="Arial"/>
                <a:cs typeface="Arial"/>
              </a:defRPr>
            </a:lvl9pPr>
          </a:lstStyle>
          <a:p xmlns:a="http://schemas.openxmlformats.org/drawingml/2006/main">
            <a:pPr>
              <a:defRPr sz="2025" b="0">
                <a:solidFill>
                  <a:srgbClr val="475569"/>
                </a:solidFill>
                <a:latin typeface="Arial"/>
                <a:ea typeface="Arial"/>
                <a:cs typeface="Arial"/>
              </a:defRPr>
            </a:pPr>
            <a:r>
              <a:rPr sz="2025" b="0">
                <a:solidFill>
                  <a:srgbClr val="475569"/>
                </a:solidFill>
                <a:latin typeface="Arial"/>
                <a:ea typeface="Arial"/>
                <a:cs typeface="Arial"/>
              </a:rPr>
              <a:t>No new external validation. Age/sex and recording differences persist.</a:t>
            </a:r>
          </a:p>
          <a:p xmlns:a="http://schemas.openxmlformats.org/drawingml/2006/main">
            <a:pPr>
              <a:defRPr sz="2025" b="0">
                <a:solidFill>
                  <a:srgbClr val="475569"/>
                </a:solidFill>
                <a:latin typeface="Arial"/>
                <a:ea typeface="Arial"/>
                <a:cs typeface="Arial"/>
              </a:defRPr>
            </a:pPr>
            <a:r>
              <a:rPr sz="2025" b="0">
                <a:solidFill>
                  <a:srgbClr val="475569"/>
                </a:solidFill>
                <a:latin typeface="Arial"/>
                <a:ea typeface="Arial"/>
                <a:cs typeface="Arial"/>
              </a:rPr>
              <a:t>The system cannot establish or rule out a voice disorder.</a:t>
            </a:r>
          </a:p>
        </p:txBody>
      </p:sp>
    </p:spTree>
    <p:extLst>
      <p:ext uri="{BB962C8B-B14F-4D97-AF65-F5344CB8AC3E}">
        <p14:creationId xmlns:p14="http://schemas.microsoft.com/office/powerpoint/2010/main" val="71970500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333EE3C-2539-4905-9DF5-89F4A1E292D5}"/>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033"/>
                </a:solidFill>
                <a:latin typeface="Arial"/>
                <a:ea typeface="Arial"/>
                <a:cs typeface="Arial"/>
              </a:defRPr>
            </a:defPPr>
            <a:lvl1pPr>
              <a:defRPr sz="3300" b="1">
                <a:solidFill>
                  <a:srgbClr val="172033"/>
                </a:solidFill>
                <a:latin typeface="Arial"/>
                <a:ea typeface="Arial"/>
                <a:cs typeface="Arial"/>
              </a:defRPr>
            </a:lvl1pPr>
            <a:lvl2pPr>
              <a:defRPr sz="3300" b="1">
                <a:solidFill>
                  <a:srgbClr val="172033"/>
                </a:solidFill>
                <a:latin typeface="Arial"/>
                <a:ea typeface="Arial"/>
                <a:cs typeface="Arial"/>
              </a:defRPr>
            </a:lvl2pPr>
            <a:lvl3pPr>
              <a:defRPr sz="3300" b="1">
                <a:solidFill>
                  <a:srgbClr val="172033"/>
                </a:solidFill>
                <a:latin typeface="Arial"/>
                <a:ea typeface="Arial"/>
                <a:cs typeface="Arial"/>
              </a:defRPr>
            </a:lvl3pPr>
            <a:lvl4pPr>
              <a:defRPr sz="3300" b="1">
                <a:solidFill>
                  <a:srgbClr val="172033"/>
                </a:solidFill>
                <a:latin typeface="Arial"/>
                <a:ea typeface="Arial"/>
                <a:cs typeface="Arial"/>
              </a:defRPr>
            </a:lvl4pPr>
            <a:lvl5pPr>
              <a:defRPr sz="3300" b="1">
                <a:solidFill>
                  <a:srgbClr val="172033"/>
                </a:solidFill>
                <a:latin typeface="Arial"/>
                <a:ea typeface="Arial"/>
                <a:cs typeface="Arial"/>
              </a:defRPr>
            </a:lvl5pPr>
            <a:lvl6pPr>
              <a:defRPr sz="3300" b="1">
                <a:solidFill>
                  <a:srgbClr val="172033"/>
                </a:solidFill>
                <a:latin typeface="Arial"/>
                <a:ea typeface="Arial"/>
                <a:cs typeface="Arial"/>
              </a:defRPr>
            </a:lvl6pPr>
            <a:lvl7pPr>
              <a:defRPr sz="3300" b="1">
                <a:solidFill>
                  <a:srgbClr val="172033"/>
                </a:solidFill>
                <a:latin typeface="Arial"/>
                <a:ea typeface="Arial"/>
                <a:cs typeface="Arial"/>
              </a:defRPr>
            </a:lvl7pPr>
            <a:lvl8pPr>
              <a:defRPr sz="3300" b="1">
                <a:solidFill>
                  <a:srgbClr val="172033"/>
                </a:solidFill>
                <a:latin typeface="Arial"/>
                <a:ea typeface="Arial"/>
                <a:cs typeface="Arial"/>
              </a:defRPr>
            </a:lvl8pPr>
            <a:lvl9pPr>
              <a:defRPr sz="3300" b="1">
                <a:solidFill>
                  <a:srgbClr val="172033"/>
                </a:solidFill>
                <a:latin typeface="Arial"/>
                <a:ea typeface="Arial"/>
                <a:cs typeface="Arial"/>
              </a:defRPr>
            </a:lvl9pPr>
          </a:lstStyle>
          <a:p xmlns:a="http://schemas.openxmlformats.org/drawingml/2006/main">
            <a:pPr>
              <a:defRPr sz="3300" b="1">
                <a:solidFill>
                  <a:srgbClr val="172033"/>
                </a:solidFill>
                <a:latin typeface="Arial"/>
                <a:ea typeface="Arial"/>
                <a:cs typeface="Arial"/>
              </a:defRPr>
            </a:pPr>
            <a:r>
              <a:rPr sz="3300" b="1">
                <a:solidFill>
                  <a:srgbClr val="172033"/>
                </a:solidFill>
                <a:latin typeface="Arial"/>
                <a:ea typeface="Arial"/>
                <a:cs typeface="Arial"/>
              </a:rPr>
              <a:t>Demonstration and next steps</a:t>
            </a:r>
          </a:p>
        </p:txBody>
      </p:sp>
      <p:sp>
        <p:nvSpPr>
          <p:cNvPr id="2" name="">
            <a:extLst xmlns:a="http://schemas.openxmlformats.org/drawingml/2006/main">
              <a:ext uri="{FF2B5EF4-FFF2-40B4-BE49-F238E27FC236}">
                <a16:creationId xmlns:a16="http://schemas.microsoft.com/office/drawing/2014/main" id="{183D1D16-32A7-455A-9737-DAD87D97AC76}"/>
              </a:ext>
            </a:extLst>
          </p:cNvPr>
          <p:cNvSpPr>
            <a:spLocks xmlns:a="http://schemas.openxmlformats.org/drawingml/2006/main" noGrp="1"/>
          </p:cNvSpPr>
          <p:nvPr/>
        </p:nvSpPr>
        <p:spPr>
          <a:xfrm xmlns:a="http://schemas.openxmlformats.org/drawingml/2006/main">
            <a:off x="11239500" y="64008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75569"/>
                </a:solidFill>
                <a:latin typeface="Arial"/>
                <a:ea typeface="Arial"/>
                <a:cs typeface="Arial"/>
              </a:defRPr>
            </a:defPPr>
            <a:lvl1pPr>
              <a:defRPr sz="1350" b="0">
                <a:solidFill>
                  <a:srgbClr val="475569"/>
                </a:solidFill>
                <a:latin typeface="Arial"/>
                <a:ea typeface="Arial"/>
                <a:cs typeface="Arial"/>
              </a:defRPr>
            </a:lvl1pPr>
            <a:lvl2pPr>
              <a:defRPr sz="1350" b="0">
                <a:solidFill>
                  <a:srgbClr val="475569"/>
                </a:solidFill>
                <a:latin typeface="Arial"/>
                <a:ea typeface="Arial"/>
                <a:cs typeface="Arial"/>
              </a:defRPr>
            </a:lvl2pPr>
            <a:lvl3pPr>
              <a:defRPr sz="1350" b="0">
                <a:solidFill>
                  <a:srgbClr val="475569"/>
                </a:solidFill>
                <a:latin typeface="Arial"/>
                <a:ea typeface="Arial"/>
                <a:cs typeface="Arial"/>
              </a:defRPr>
            </a:lvl3pPr>
            <a:lvl4pPr>
              <a:defRPr sz="1350" b="0">
                <a:solidFill>
                  <a:srgbClr val="475569"/>
                </a:solidFill>
                <a:latin typeface="Arial"/>
                <a:ea typeface="Arial"/>
                <a:cs typeface="Arial"/>
              </a:defRPr>
            </a:lvl4pPr>
            <a:lvl5pPr>
              <a:defRPr sz="1350" b="0">
                <a:solidFill>
                  <a:srgbClr val="475569"/>
                </a:solidFill>
                <a:latin typeface="Arial"/>
                <a:ea typeface="Arial"/>
                <a:cs typeface="Arial"/>
              </a:defRPr>
            </a:lvl5pPr>
            <a:lvl6pPr>
              <a:defRPr sz="1350" b="0">
                <a:solidFill>
                  <a:srgbClr val="475569"/>
                </a:solidFill>
                <a:latin typeface="Arial"/>
                <a:ea typeface="Arial"/>
                <a:cs typeface="Arial"/>
              </a:defRPr>
            </a:lvl6pPr>
            <a:lvl7pPr>
              <a:defRPr sz="1350" b="0">
                <a:solidFill>
                  <a:srgbClr val="475569"/>
                </a:solidFill>
                <a:latin typeface="Arial"/>
                <a:ea typeface="Arial"/>
                <a:cs typeface="Arial"/>
              </a:defRPr>
            </a:lvl7pPr>
            <a:lvl8pPr>
              <a:defRPr sz="1350" b="0">
                <a:solidFill>
                  <a:srgbClr val="475569"/>
                </a:solidFill>
                <a:latin typeface="Arial"/>
                <a:ea typeface="Arial"/>
                <a:cs typeface="Arial"/>
              </a:defRPr>
            </a:lvl8pPr>
            <a:lvl9pPr>
              <a:defRPr sz="1350" b="0">
                <a:solidFill>
                  <a:srgbClr val="475569"/>
                </a:solidFill>
                <a:latin typeface="Arial"/>
                <a:ea typeface="Arial"/>
                <a:cs typeface="Arial"/>
              </a:defRPr>
            </a:lvl9pPr>
          </a:lstStyle>
          <a:p xmlns:a="http://schemas.openxmlformats.org/drawingml/2006/main">
            <a:pPr>
              <a:defRPr sz="1350" b="0">
                <a:solidFill>
                  <a:srgbClr val="475569"/>
                </a:solidFill>
                <a:latin typeface="Arial"/>
                <a:ea typeface="Arial"/>
                <a:cs typeface="Arial"/>
              </a:defRPr>
            </a:pPr>
            <a:r>
              <a:rPr sz="1350" b="0">
                <a:solidFill>
                  <a:srgbClr val="475569"/>
                </a:solidFill>
                <a:latin typeface="Arial"/>
                <a:ea typeface="Arial"/>
                <a:cs typeface="Arial"/>
              </a:rPr>
              <a:t>9</a:t>
            </a:r>
          </a:p>
        </p:txBody>
      </p:sp>
      <p:sp>
        <p:nvSpPr>
          <p:cNvPr id="3" name="">
            <a:extLst xmlns:a="http://schemas.openxmlformats.org/drawingml/2006/main">
              <a:ext uri="{FF2B5EF4-FFF2-40B4-BE49-F238E27FC236}">
                <a16:creationId xmlns:a16="http://schemas.microsoft.com/office/drawing/2014/main" id="{29E5D0E8-15D0-4E71-817F-F3BF4A8625A5}"/>
              </a:ext>
            </a:extLst>
          </p:cNvPr>
          <p:cNvSpPr>
            <a:spLocks xmlns:a="http://schemas.openxmlformats.org/drawingml/2006/main" noGrp="1"/>
          </p:cNvSpPr>
          <p:nvPr/>
        </p:nvSpPr>
        <p:spPr>
          <a:xfrm xmlns:a="http://schemas.openxmlformats.org/drawingml/2006/main">
            <a:off x="609600" y="15240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0F766E"/>
                </a:solidFill>
                <a:latin typeface="Arial"/>
                <a:ea typeface="Arial"/>
                <a:cs typeface="Arial"/>
              </a:defRPr>
            </a:defPPr>
            <a:lvl1pPr>
              <a:defRPr sz="2625" b="1">
                <a:solidFill>
                  <a:srgbClr val="0F766E"/>
                </a:solidFill>
                <a:latin typeface="Arial"/>
                <a:ea typeface="Arial"/>
                <a:cs typeface="Arial"/>
              </a:defRPr>
            </a:lvl1pPr>
            <a:lvl2pPr>
              <a:defRPr sz="2625" b="1">
                <a:solidFill>
                  <a:srgbClr val="0F766E"/>
                </a:solidFill>
                <a:latin typeface="Arial"/>
                <a:ea typeface="Arial"/>
                <a:cs typeface="Arial"/>
              </a:defRPr>
            </a:lvl2pPr>
            <a:lvl3pPr>
              <a:defRPr sz="2625" b="1">
                <a:solidFill>
                  <a:srgbClr val="0F766E"/>
                </a:solidFill>
                <a:latin typeface="Arial"/>
                <a:ea typeface="Arial"/>
                <a:cs typeface="Arial"/>
              </a:defRPr>
            </a:lvl3pPr>
            <a:lvl4pPr>
              <a:defRPr sz="2625" b="1">
                <a:solidFill>
                  <a:srgbClr val="0F766E"/>
                </a:solidFill>
                <a:latin typeface="Arial"/>
                <a:ea typeface="Arial"/>
                <a:cs typeface="Arial"/>
              </a:defRPr>
            </a:lvl4pPr>
            <a:lvl5pPr>
              <a:defRPr sz="2625" b="1">
                <a:solidFill>
                  <a:srgbClr val="0F766E"/>
                </a:solidFill>
                <a:latin typeface="Arial"/>
                <a:ea typeface="Arial"/>
                <a:cs typeface="Arial"/>
              </a:defRPr>
            </a:lvl5pPr>
            <a:lvl6pPr>
              <a:defRPr sz="2625" b="1">
                <a:solidFill>
                  <a:srgbClr val="0F766E"/>
                </a:solidFill>
                <a:latin typeface="Arial"/>
                <a:ea typeface="Arial"/>
                <a:cs typeface="Arial"/>
              </a:defRPr>
            </a:lvl6pPr>
            <a:lvl7pPr>
              <a:defRPr sz="2625" b="1">
                <a:solidFill>
                  <a:srgbClr val="0F766E"/>
                </a:solidFill>
                <a:latin typeface="Arial"/>
                <a:ea typeface="Arial"/>
                <a:cs typeface="Arial"/>
              </a:defRPr>
            </a:lvl7pPr>
            <a:lvl8pPr>
              <a:defRPr sz="2625" b="1">
                <a:solidFill>
                  <a:srgbClr val="0F766E"/>
                </a:solidFill>
                <a:latin typeface="Arial"/>
                <a:ea typeface="Arial"/>
                <a:cs typeface="Arial"/>
              </a:defRPr>
            </a:lvl8pPr>
            <a:lvl9pPr>
              <a:defRPr sz="2625" b="1">
                <a:solidFill>
                  <a:srgbClr val="0F766E"/>
                </a:solidFill>
                <a:latin typeface="Arial"/>
                <a:ea typeface="Arial"/>
                <a:cs typeface="Arial"/>
              </a:defRPr>
            </a:lvl9pPr>
          </a:lstStyle>
          <a:p xmlns:a="http://schemas.openxmlformats.org/drawingml/2006/main">
            <a:pPr>
              <a:defRPr sz="2625" b="1">
                <a:solidFill>
                  <a:srgbClr val="0F766E"/>
                </a:solidFill>
                <a:latin typeface="Arial"/>
                <a:ea typeface="Arial"/>
                <a:cs typeface="Arial"/>
              </a:defRPr>
            </a:pPr>
            <a:r>
              <a:rPr sz="2625" b="1">
                <a:solidFill>
                  <a:srgbClr val="0F766E"/>
                </a:solidFill>
                <a:latin typeface="Arial"/>
                <a:ea typeface="Arial"/>
                <a:cs typeface="Arial"/>
              </a:rPr>
              <a:t>Upload → Analyze Voice → explain result and uncertainty</a:t>
            </a:r>
          </a:p>
        </p:txBody>
      </p:sp>
      <p:sp>
        <p:nvSpPr>
          <p:cNvPr id="4" name="">
            <a:extLst xmlns:a="http://schemas.openxmlformats.org/drawingml/2006/main">
              <a:ext uri="{FF2B5EF4-FFF2-40B4-BE49-F238E27FC236}">
                <a16:creationId xmlns:a16="http://schemas.microsoft.com/office/drawing/2014/main" id="{95E056BE-C8D3-49A0-A80F-86EB5187BDE5}"/>
              </a:ext>
            </a:extLst>
          </p:cNvPr>
          <p:cNvSpPr>
            <a:spLocks xmlns:a="http://schemas.openxmlformats.org/drawingml/2006/main" noGrp="1"/>
          </p:cNvSpPr>
          <p:nvPr/>
        </p:nvSpPr>
        <p:spPr>
          <a:xfrm xmlns:a="http://schemas.openxmlformats.org/drawingml/2006/main">
            <a:off x="609600" y="2905125"/>
            <a:ext cx="109728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2033"/>
                </a:solidFill>
                <a:latin typeface="Arial"/>
                <a:ea typeface="Arial"/>
                <a:cs typeface="Arial"/>
              </a:defRPr>
            </a:defPPr>
            <a:lvl1pPr>
              <a:defRPr sz="2250" b="0">
                <a:solidFill>
                  <a:srgbClr val="172033"/>
                </a:solidFill>
                <a:latin typeface="Arial"/>
                <a:ea typeface="Arial"/>
                <a:cs typeface="Arial"/>
              </a:defRPr>
            </a:lvl1pPr>
            <a:lvl2pPr>
              <a:defRPr sz="2250" b="0">
                <a:solidFill>
                  <a:srgbClr val="172033"/>
                </a:solidFill>
                <a:latin typeface="Arial"/>
                <a:ea typeface="Arial"/>
                <a:cs typeface="Arial"/>
              </a:defRPr>
            </a:lvl2pPr>
            <a:lvl3pPr>
              <a:defRPr sz="2250" b="0">
                <a:solidFill>
                  <a:srgbClr val="172033"/>
                </a:solidFill>
                <a:latin typeface="Arial"/>
                <a:ea typeface="Arial"/>
                <a:cs typeface="Arial"/>
              </a:defRPr>
            </a:lvl3pPr>
            <a:lvl4pPr>
              <a:defRPr sz="2250" b="0">
                <a:solidFill>
                  <a:srgbClr val="172033"/>
                </a:solidFill>
                <a:latin typeface="Arial"/>
                <a:ea typeface="Arial"/>
                <a:cs typeface="Arial"/>
              </a:defRPr>
            </a:lvl4pPr>
            <a:lvl5pPr>
              <a:defRPr sz="2250" b="0">
                <a:solidFill>
                  <a:srgbClr val="172033"/>
                </a:solidFill>
                <a:latin typeface="Arial"/>
                <a:ea typeface="Arial"/>
                <a:cs typeface="Arial"/>
              </a:defRPr>
            </a:lvl5pPr>
            <a:lvl6pPr>
              <a:defRPr sz="2250" b="0">
                <a:solidFill>
                  <a:srgbClr val="172033"/>
                </a:solidFill>
                <a:latin typeface="Arial"/>
                <a:ea typeface="Arial"/>
                <a:cs typeface="Arial"/>
              </a:defRPr>
            </a:lvl6pPr>
            <a:lvl7pPr>
              <a:defRPr sz="2250" b="0">
                <a:solidFill>
                  <a:srgbClr val="172033"/>
                </a:solidFill>
                <a:latin typeface="Arial"/>
                <a:ea typeface="Arial"/>
                <a:cs typeface="Arial"/>
              </a:defRPr>
            </a:lvl7pPr>
            <a:lvl8pPr>
              <a:defRPr sz="2250" b="0">
                <a:solidFill>
                  <a:srgbClr val="172033"/>
                </a:solidFill>
                <a:latin typeface="Arial"/>
                <a:ea typeface="Arial"/>
                <a:cs typeface="Arial"/>
              </a:defRPr>
            </a:lvl8pPr>
            <a:lvl9pPr>
              <a:defRPr sz="2250" b="0">
                <a:solidFill>
                  <a:srgbClr val="172033"/>
                </a:solidFill>
                <a:latin typeface="Arial"/>
                <a:ea typeface="Arial"/>
                <a:cs typeface="Arial"/>
              </a:defRPr>
            </a:lvl9pPr>
          </a:lstStyle>
          <a:p xmlns:a="http://schemas.openxmlformats.org/drawingml/2006/main">
            <a:pPr>
              <a:defRPr sz="2250" b="0">
                <a:solidFill>
                  <a:srgbClr val="172033"/>
                </a:solidFill>
                <a:latin typeface="Arial"/>
                <a:ea typeface="Arial"/>
                <a:cs typeface="Arial"/>
              </a:defRPr>
            </a:pPr>
            <a:r>
              <a:rPr sz="2250" b="0">
                <a:solidFill>
                  <a:srgbClr val="172033"/>
                </a:solidFill>
                <a:latin typeface="Arial"/>
                <a:ea typeface="Arial"/>
                <a:cs typeface="Arial"/>
              </a:rPr>
              <a:t>Warm inference median: 0.36 seconds on this laptop.</a:t>
            </a:r>
          </a:p>
          <a:p xmlns:a="http://schemas.openxmlformats.org/drawingml/2006/main">
            <a:pPr>
              <a:defRPr sz="2250" b="0">
                <a:solidFill>
                  <a:srgbClr val="172033"/>
                </a:solidFill>
                <a:latin typeface="Arial"/>
                <a:ea typeface="Arial"/>
                <a:cs typeface="Arial"/>
              </a:defRPr>
            </a:pPr>
            <a:r>
              <a:rPr sz="2250" b="0">
                <a:solidFill>
                  <a:srgbClr val="172033"/>
                </a:solidFill>
                <a:latin typeface="Arial"/>
                <a:ea typeface="Arial"/>
                <a:cs typeface="Arial"/>
              </a:rPr>
              <a:t>Supplied audio files are DEVELOPMENT demonstrations.</a:t>
            </a:r>
          </a:p>
          <a:p xmlns:a="http://schemas.openxmlformats.org/drawingml/2006/main">
            <a:pPr>
              <a:defRPr sz="2250" b="0">
                <a:solidFill>
                  <a:srgbClr val="172033"/>
                </a:solidFill>
                <a:latin typeface="Arial"/>
                <a:ea typeface="Arial"/>
                <a:cs typeface="Arial"/>
              </a:defRPr>
            </a:pPr>
            <a:r>
              <a:rPr sz="2250" b="0">
                <a:solidFill>
                  <a:srgbClr val="172033"/>
                </a:solidFill>
                <a:latin typeface="Arial"/>
                <a:ea typeface="Arial"/>
                <a:cs typeface="Arial"/>
              </a:rPr>
              <a:t>The local app works offline after installation.</a:t>
            </a:r>
          </a:p>
        </p:txBody>
      </p:sp>
      <p:sp>
        <p:nvSpPr>
          <p:cNvPr id="5" name="">
            <a:extLst xmlns:a="http://schemas.openxmlformats.org/drawingml/2006/main">
              <a:ext uri="{FF2B5EF4-FFF2-40B4-BE49-F238E27FC236}">
                <a16:creationId xmlns:a16="http://schemas.microsoft.com/office/drawing/2014/main" id="{048C7A7F-2186-4234-BAD9-259079E9D747}"/>
              </a:ext>
            </a:extLst>
          </p:cNvPr>
          <p:cNvSpPr>
            <a:spLocks xmlns:a="http://schemas.openxmlformats.org/drawingml/2006/main" noGrp="1"/>
          </p:cNvSpPr>
          <p:nvPr/>
        </p:nvSpPr>
        <p:spPr>
          <a:xfrm xmlns:a="http://schemas.openxmlformats.org/drawingml/2006/main">
            <a:off x="609600" y="5191125"/>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2033"/>
                </a:solidFill>
                <a:latin typeface="Arial"/>
                <a:ea typeface="Arial"/>
                <a:cs typeface="Arial"/>
              </a:defRPr>
            </a:defPPr>
            <a:lvl1pPr>
              <a:defRPr sz="2250" b="1">
                <a:solidFill>
                  <a:srgbClr val="172033"/>
                </a:solidFill>
                <a:latin typeface="Arial"/>
                <a:ea typeface="Arial"/>
                <a:cs typeface="Arial"/>
              </a:defRPr>
            </a:lvl1pPr>
            <a:lvl2pPr>
              <a:defRPr sz="2250" b="1">
                <a:solidFill>
                  <a:srgbClr val="172033"/>
                </a:solidFill>
                <a:latin typeface="Arial"/>
                <a:ea typeface="Arial"/>
                <a:cs typeface="Arial"/>
              </a:defRPr>
            </a:lvl2pPr>
            <a:lvl3pPr>
              <a:defRPr sz="2250" b="1">
                <a:solidFill>
                  <a:srgbClr val="172033"/>
                </a:solidFill>
                <a:latin typeface="Arial"/>
                <a:ea typeface="Arial"/>
                <a:cs typeface="Arial"/>
              </a:defRPr>
            </a:lvl3pPr>
            <a:lvl4pPr>
              <a:defRPr sz="2250" b="1">
                <a:solidFill>
                  <a:srgbClr val="172033"/>
                </a:solidFill>
                <a:latin typeface="Arial"/>
                <a:ea typeface="Arial"/>
                <a:cs typeface="Arial"/>
              </a:defRPr>
            </a:lvl4pPr>
            <a:lvl5pPr>
              <a:defRPr sz="2250" b="1">
                <a:solidFill>
                  <a:srgbClr val="172033"/>
                </a:solidFill>
                <a:latin typeface="Arial"/>
                <a:ea typeface="Arial"/>
                <a:cs typeface="Arial"/>
              </a:defRPr>
            </a:lvl5pPr>
            <a:lvl6pPr>
              <a:defRPr sz="2250" b="1">
                <a:solidFill>
                  <a:srgbClr val="172033"/>
                </a:solidFill>
                <a:latin typeface="Arial"/>
                <a:ea typeface="Arial"/>
                <a:cs typeface="Arial"/>
              </a:defRPr>
            </a:lvl6pPr>
            <a:lvl7pPr>
              <a:defRPr sz="2250" b="1">
                <a:solidFill>
                  <a:srgbClr val="172033"/>
                </a:solidFill>
                <a:latin typeface="Arial"/>
                <a:ea typeface="Arial"/>
                <a:cs typeface="Arial"/>
              </a:defRPr>
            </a:lvl7pPr>
            <a:lvl8pPr>
              <a:defRPr sz="2250" b="1">
                <a:solidFill>
                  <a:srgbClr val="172033"/>
                </a:solidFill>
                <a:latin typeface="Arial"/>
                <a:ea typeface="Arial"/>
                <a:cs typeface="Arial"/>
              </a:defRPr>
            </a:lvl8pPr>
            <a:lvl9pPr>
              <a:defRPr sz="2250" b="1">
                <a:solidFill>
                  <a:srgbClr val="172033"/>
                </a:solidFill>
                <a:latin typeface="Arial"/>
                <a:ea typeface="Arial"/>
                <a:cs typeface="Arial"/>
              </a:defRPr>
            </a:lvl9pPr>
          </a:lstStyle>
          <a:p xmlns:a="http://schemas.openxmlformats.org/drawingml/2006/main">
            <a:pPr>
              <a:defRPr sz="2250" b="1">
                <a:solidFill>
                  <a:srgbClr val="172033"/>
                </a:solidFill>
                <a:latin typeface="Arial"/>
                <a:ea typeface="Arial"/>
                <a:cs typeface="Arial"/>
              </a:defRPr>
            </a:pPr>
            <a:r>
              <a:rPr sz="2250" b="1">
                <a:solidFill>
                  <a:srgbClr val="172033"/>
                </a:solidFill>
                <a:latin typeface="Arial"/>
                <a:ea typeface="Arial"/>
                <a:cs typeface="Arial"/>
              </a:rPr>
              <a:t>Next: representative new speakers, confounder controls</a:t>
            </a:r>
          </a:p>
          <a:p xmlns:a="http://schemas.openxmlformats.org/drawingml/2006/main">
            <a:pPr>
              <a:defRPr sz="2250" b="1">
                <a:solidFill>
                  <a:srgbClr val="172033"/>
                </a:solidFill>
                <a:latin typeface="Arial"/>
                <a:ea typeface="Arial"/>
                <a:cs typeface="Arial"/>
              </a:defRPr>
            </a:pPr>
            <a:r>
              <a:rPr sz="2250" b="1">
                <a:solidFill>
                  <a:srgbClr val="172033"/>
                </a:solidFill>
                <a:latin typeface="Arial"/>
                <a:ea typeface="Arial"/>
                <a:cs typeface="Arial"/>
              </a:rPr>
              <a:t>and an untouched external evaluation.</a:t>
            </a:r>
          </a:p>
        </p:txBody>
      </p:sp>
    </p:spTree>
    <p:extLst>
      <p:ext uri="{BB962C8B-B14F-4D97-AF65-F5344CB8AC3E}">
        <p14:creationId xmlns:p14="http://schemas.microsoft.com/office/powerpoint/2010/main" val="16355586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2026-10-22T15:33:52.4690000Z</dcterms:created>
  <dcterms:modified xsi:type="dcterms:W3CDTF">2026-10-22T15:33:52.4690000Z</dcterms:modified>
</coreProperties>
</file>